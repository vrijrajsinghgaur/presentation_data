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5" r:id="rId2"/>
    <p:sldId id="271" r:id="rId3"/>
    <p:sldId id="270" r:id="rId4"/>
    <p:sldId id="258" r:id="rId5"/>
    <p:sldId id="284" r:id="rId6"/>
    <p:sldId id="272" r:id="rId7"/>
    <p:sldId id="283" r:id="rId8"/>
    <p:sldId id="286" r:id="rId9"/>
    <p:sldId id="261" r:id="rId10"/>
    <p:sldId id="264" r:id="rId11"/>
    <p:sldId id="265" r:id="rId12"/>
    <p:sldId id="266" r:id="rId13"/>
    <p:sldId id="267" r:id="rId14"/>
    <p:sldId id="269" r:id="rId15"/>
    <p:sldId id="273" r:id="rId16"/>
    <p:sldId id="274" r:id="rId17"/>
    <p:sldId id="275" r:id="rId18"/>
    <p:sldId id="276" r:id="rId19"/>
    <p:sldId id="277" r:id="rId20"/>
    <p:sldId id="278" r:id="rId21"/>
    <p:sldId id="279" r:id="rId22"/>
    <p:sldId id="282" r:id="rId23"/>
    <p:sldId id="280" r:id="rId24"/>
    <p:sldId id="2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715"/>
  </p:normalViewPr>
  <p:slideViewPr>
    <p:cSldViewPr snapToGrid="0">
      <p:cViewPr varScale="1">
        <p:scale>
          <a:sx n="119" d="100"/>
          <a:sy n="119" d="100"/>
        </p:scale>
        <p:origin x="216"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77DCD3-2D9F-C34D-8DE0-B3B649AF79DA}" type="datetimeFigureOut">
              <a:rPr lang="en-US" smtClean="0"/>
              <a:t>9/9/26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2FDCF-BC32-224C-9690-6AFD4FBF2986}" type="slidenum">
              <a:rPr lang="en-US" smtClean="0"/>
              <a:t>‹#›</a:t>
            </a:fld>
            <a:endParaRPr lang="en-US"/>
          </a:p>
        </p:txBody>
      </p:sp>
    </p:spTree>
    <p:extLst>
      <p:ext uri="{BB962C8B-B14F-4D97-AF65-F5344CB8AC3E}">
        <p14:creationId xmlns:p14="http://schemas.microsoft.com/office/powerpoint/2010/main" val="665502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C7A5-8EF3-4E1C-141D-22ABDD65D8F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D6D4801-DEC1-B7D6-090F-F91C8F98C6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59556D6-A67D-A3D0-2946-3D120D834854}"/>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5" name="Footer Placeholder 4">
            <a:extLst>
              <a:ext uri="{FF2B5EF4-FFF2-40B4-BE49-F238E27FC236}">
                <a16:creationId xmlns:a16="http://schemas.microsoft.com/office/drawing/2014/main" id="{301B378F-1BF4-2C2C-90FF-5D7BC4D6A4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A47E12-C417-16EF-D041-92A9C78FC77C}"/>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1666290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DD7E7-7A9B-A90E-4B5D-D7EFB6C51EF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EE5B186-512E-478B-FC01-42942FA5CE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E9D7DB1-C4DD-1709-C017-787D2D576C62}"/>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5" name="Footer Placeholder 4">
            <a:extLst>
              <a:ext uri="{FF2B5EF4-FFF2-40B4-BE49-F238E27FC236}">
                <a16:creationId xmlns:a16="http://schemas.microsoft.com/office/drawing/2014/main" id="{785F5819-65AA-F270-EA2E-B5EC11059F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6A078-4C5A-E57A-FFE6-C795C99F982C}"/>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1787585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6520-C77B-EDF5-A505-0ACE60C2C05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FAAD621-1B11-EE97-C6D3-411A9DEAFC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E1D415C-2E11-6CB9-6C4D-80F81F6CF8F4}"/>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5" name="Footer Placeholder 4">
            <a:extLst>
              <a:ext uri="{FF2B5EF4-FFF2-40B4-BE49-F238E27FC236}">
                <a16:creationId xmlns:a16="http://schemas.microsoft.com/office/drawing/2014/main" id="{2AE09F53-66A1-4E6F-5E1A-D0D8E7581A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0C265-0A73-50C8-E7F7-74E1130B1412}"/>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116018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06A8C-2F4E-05DE-F299-618430EA424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A80223D-5B62-A3E8-7078-CEB8F23A732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53C36B1-EF1C-7536-7668-19AE53D1082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84D5FB6-6593-756F-7AE4-4ED3BE477CB3}"/>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6" name="Footer Placeholder 5">
            <a:extLst>
              <a:ext uri="{FF2B5EF4-FFF2-40B4-BE49-F238E27FC236}">
                <a16:creationId xmlns:a16="http://schemas.microsoft.com/office/drawing/2014/main" id="{2F48A024-99E3-7386-D7AE-266B6A2607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897B5-4D68-932B-BB98-9006835C2E88}"/>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1406623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82E9-0D3A-74C6-D2B1-F7B04A38917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F8A3E0F-FE49-4464-4213-9B16248E52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E9318E4-5103-6BE7-2B66-FE48B72EE65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C4B3F13-00CF-44BB-5680-BDB4219911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59AD77C-13EA-C962-DBAB-5A58DD799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CA1B17B-6A57-579B-D09E-0DDC98233CFB}"/>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8" name="Footer Placeholder 7">
            <a:extLst>
              <a:ext uri="{FF2B5EF4-FFF2-40B4-BE49-F238E27FC236}">
                <a16:creationId xmlns:a16="http://schemas.microsoft.com/office/drawing/2014/main" id="{A6E664FE-35AE-BC16-FFDA-480CEC270E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1AE8E7-A023-2D53-3215-D867A343DD76}"/>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808795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C609-9294-0686-7A8C-1BE63E8AD40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A22A218-E4CF-EC6D-446B-55DC1AFB9C7D}"/>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4" name="Footer Placeholder 3">
            <a:extLst>
              <a:ext uri="{FF2B5EF4-FFF2-40B4-BE49-F238E27FC236}">
                <a16:creationId xmlns:a16="http://schemas.microsoft.com/office/drawing/2014/main" id="{B0A35418-AF8C-9670-DFA6-880D6B3A00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64CA22-3ABD-37EC-477C-760B8EDCD8C7}"/>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493663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5F97B6-7335-8757-07DE-D718C80AE902}"/>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3" name="Footer Placeholder 2">
            <a:extLst>
              <a:ext uri="{FF2B5EF4-FFF2-40B4-BE49-F238E27FC236}">
                <a16:creationId xmlns:a16="http://schemas.microsoft.com/office/drawing/2014/main" id="{F098221D-9C92-0769-158F-BD5DEC3A08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B3BD0B-2D77-7482-CB2A-725BC5E421B6}"/>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3539377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742B-71F0-EAF3-0F51-617895A628A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045592A-D558-AF69-A6E9-59969B27AE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D751947-100A-5264-FE18-290CC3CBB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3E34933-1A66-6BC5-6A2E-B11D7A36BEEB}"/>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6" name="Footer Placeholder 5">
            <a:extLst>
              <a:ext uri="{FF2B5EF4-FFF2-40B4-BE49-F238E27FC236}">
                <a16:creationId xmlns:a16="http://schemas.microsoft.com/office/drawing/2014/main" id="{A8086FD7-6209-1ED3-8CD5-F92C6144BC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B23635-34DC-F62F-691F-3F2F620FAABB}"/>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1123293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1C9BF-A1F2-2BE6-3A5C-110115AACD9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BF09165-BA44-89B4-3FB5-CD82CFBCA9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6EA698-0FCD-37CB-C484-A63EEECC8D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DB1D332-77BA-2E5D-F77E-F63FD2EA9ED9}"/>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6" name="Footer Placeholder 5">
            <a:extLst>
              <a:ext uri="{FF2B5EF4-FFF2-40B4-BE49-F238E27FC236}">
                <a16:creationId xmlns:a16="http://schemas.microsoft.com/office/drawing/2014/main" id="{D646A34E-39A8-DD70-6717-C067E71A15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580538-ED8F-EAC6-6379-3085B8F87A47}"/>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3776838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A9D9A-659C-A26A-5F0B-CF5ECBC43C4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6742080-F2B0-1728-C1ED-38018769F96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7CB7123-CCBF-A546-B9D0-BF186C9E7514}"/>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5" name="Footer Placeholder 4">
            <a:extLst>
              <a:ext uri="{FF2B5EF4-FFF2-40B4-BE49-F238E27FC236}">
                <a16:creationId xmlns:a16="http://schemas.microsoft.com/office/drawing/2014/main" id="{A2EDC6FA-6376-250A-1683-34DBB547AC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8D54A3-0130-8E17-A314-BC788D926F29}"/>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66321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F03341-7DC6-BC2C-FD28-DDD8DD178EA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D122B95-7001-57BD-63B4-692D3C09FF4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7E254FC-8C7F-EE13-AF49-4CDAF76CC49C}"/>
              </a:ext>
            </a:extLst>
          </p:cNvPr>
          <p:cNvSpPr>
            <a:spLocks noGrp="1"/>
          </p:cNvSpPr>
          <p:nvPr>
            <p:ph type="dt" sz="half" idx="10"/>
          </p:nvPr>
        </p:nvSpPr>
        <p:spPr/>
        <p:txBody>
          <a:bodyPr/>
          <a:lstStyle/>
          <a:p>
            <a:fld id="{41681B7D-6939-734E-99CE-CBC16B7F68A3}" type="datetimeFigureOut">
              <a:rPr lang="en-US" smtClean="0"/>
              <a:t>9/9/26</a:t>
            </a:fld>
            <a:endParaRPr lang="en-US"/>
          </a:p>
        </p:txBody>
      </p:sp>
      <p:sp>
        <p:nvSpPr>
          <p:cNvPr id="5" name="Footer Placeholder 4">
            <a:extLst>
              <a:ext uri="{FF2B5EF4-FFF2-40B4-BE49-F238E27FC236}">
                <a16:creationId xmlns:a16="http://schemas.microsoft.com/office/drawing/2014/main" id="{08A1E7C9-8121-CAA8-1DBA-FAFE00A671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8DF300-8E6D-DA76-33D1-3CCFC45EA2EF}"/>
              </a:ext>
            </a:extLst>
          </p:cNvPr>
          <p:cNvSpPr>
            <a:spLocks noGrp="1"/>
          </p:cNvSpPr>
          <p:nvPr>
            <p:ph type="sldNum" sz="quarter" idx="12"/>
          </p:nvPr>
        </p:nvSpPr>
        <p:spPr/>
        <p:txBody>
          <a:bodyPr/>
          <a:lstStyle/>
          <a:p>
            <a:fld id="{E8C8E10C-4794-5E41-A6D1-7E5E19B8ECE2}" type="slidenum">
              <a:rPr lang="en-US" smtClean="0"/>
              <a:t>‹#›</a:t>
            </a:fld>
            <a:endParaRPr lang="en-US"/>
          </a:p>
        </p:txBody>
      </p:sp>
    </p:spTree>
    <p:extLst>
      <p:ext uri="{BB962C8B-B14F-4D97-AF65-F5344CB8AC3E}">
        <p14:creationId xmlns:p14="http://schemas.microsoft.com/office/powerpoint/2010/main" val="3121205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074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25A7B-4117-FC95-4BDF-7864D2035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EFE0BA0-ED01-0BA1-E14D-A29BA4499D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9F4F43C-36F8-AE41-BAED-0C99AA6DB4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81B7D-6939-734E-99CE-CBC16B7F68A3}" type="datetimeFigureOut">
              <a:rPr lang="en-US" smtClean="0"/>
              <a:t>9/9/26</a:t>
            </a:fld>
            <a:endParaRPr lang="en-US"/>
          </a:p>
        </p:txBody>
      </p:sp>
      <p:sp>
        <p:nvSpPr>
          <p:cNvPr id="5" name="Footer Placeholder 4">
            <a:extLst>
              <a:ext uri="{FF2B5EF4-FFF2-40B4-BE49-F238E27FC236}">
                <a16:creationId xmlns:a16="http://schemas.microsoft.com/office/drawing/2014/main" id="{1F30D78C-98FA-E0AA-7DDE-BBCE4D8035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A62C2D-8126-EA1A-97E2-FA8AEE9DDB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C8E10C-4794-5E41-A6D1-7E5E19B8ECE2}" type="slidenum">
              <a:rPr lang="en-US" smtClean="0"/>
              <a:t>‹#›</a:t>
            </a:fld>
            <a:endParaRPr lang="en-US"/>
          </a:p>
        </p:txBody>
      </p:sp>
    </p:spTree>
    <p:extLst>
      <p:ext uri="{BB962C8B-B14F-4D97-AF65-F5344CB8AC3E}">
        <p14:creationId xmlns:p14="http://schemas.microsoft.com/office/powerpoint/2010/main" val="2003576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231A82-7DF3-CF29-8CF8-CEAEA3C91570}"/>
              </a:ext>
            </a:extLst>
          </p:cNvPr>
          <p:cNvPicPr>
            <a:picLocks noChangeAspect="1"/>
          </p:cNvPicPr>
          <p:nvPr/>
        </p:nvPicPr>
        <p:blipFill>
          <a:blip r:embed="rId2"/>
          <a:stretch>
            <a:fillRect/>
          </a:stretch>
        </p:blipFill>
        <p:spPr>
          <a:xfrm>
            <a:off x="0" y="0"/>
            <a:ext cx="11383229" cy="6858000"/>
          </a:xfrm>
          <a:prstGeom prst="rect">
            <a:avLst/>
          </a:prstGeom>
        </p:spPr>
      </p:pic>
    </p:spTree>
    <p:extLst>
      <p:ext uri="{BB962C8B-B14F-4D97-AF65-F5344CB8AC3E}">
        <p14:creationId xmlns:p14="http://schemas.microsoft.com/office/powerpoint/2010/main" val="1017458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347472"/>
            <a:ext cx="7315200" cy="274320"/>
          </a:xfrm>
          <a:prstGeom prst="rect">
            <a:avLst/>
          </a:prstGeom>
          <a:noFill/>
          <a:ln/>
        </p:spPr>
        <p:txBody>
          <a:bodyPr wrap="square" lIns="0" tIns="0" rIns="0" bIns="0" rtlCol="0" anchor="ctr"/>
          <a:lstStyle/>
          <a:p>
            <a:pPr marL="0" indent="0">
              <a:buNone/>
            </a:pPr>
            <a:r>
              <a:rPr lang="en-US" sz="1100" kern="0" spc="300" dirty="0">
                <a:solidFill>
                  <a:srgbClr val="7A7F76"/>
                </a:solidFill>
                <a:latin typeface="Calibri" pitchFamily="34" charset="0"/>
                <a:ea typeface="Calibri" pitchFamily="34" charset="-122"/>
                <a:cs typeface="Calibri" pitchFamily="34" charset="-120"/>
              </a:rPr>
              <a:t>INTRODUCTION</a:t>
            </a:r>
            <a:endParaRPr lang="en-US" sz="1100" dirty="0"/>
          </a:p>
        </p:txBody>
      </p:sp>
      <p:sp>
        <p:nvSpPr>
          <p:cNvPr id="3" name="Text 1"/>
          <p:cNvSpPr/>
          <p:nvPr/>
        </p:nvSpPr>
        <p:spPr>
          <a:xfrm>
            <a:off x="9859975" y="347472"/>
            <a:ext cx="1645920" cy="274320"/>
          </a:xfrm>
          <a:prstGeom prst="rect">
            <a:avLst/>
          </a:prstGeom>
          <a:noFill/>
          <a:ln/>
        </p:spPr>
        <p:txBody>
          <a:bodyPr wrap="square" lIns="0" tIns="0" rIns="0" bIns="0" rtlCol="0" anchor="ctr"/>
          <a:lstStyle/>
          <a:p>
            <a:pPr marL="0" indent="0" algn="r">
              <a:buNone/>
            </a:pPr>
            <a:r>
              <a:rPr lang="en-US" sz="1100" kern="0" spc="300" dirty="0">
                <a:solidFill>
                  <a:srgbClr val="7A7F76"/>
                </a:solidFill>
                <a:latin typeface="Calibri" pitchFamily="34" charset="0"/>
                <a:ea typeface="Calibri" pitchFamily="34" charset="-122"/>
                <a:cs typeface="Calibri" pitchFamily="34" charset="-120"/>
              </a:rPr>
              <a:t>02</a:t>
            </a:r>
            <a:endParaRPr lang="en-US" sz="1100" dirty="0"/>
          </a:p>
        </p:txBody>
      </p:sp>
      <p:sp>
        <p:nvSpPr>
          <p:cNvPr id="4" name="Text 2"/>
          <p:cNvSpPr/>
          <p:nvPr/>
        </p:nvSpPr>
        <p:spPr>
          <a:xfrm>
            <a:off x="10134295" y="6492240"/>
            <a:ext cx="1371600" cy="228600"/>
          </a:xfrm>
          <a:prstGeom prst="rect">
            <a:avLst/>
          </a:prstGeom>
          <a:noFill/>
          <a:ln/>
        </p:spPr>
        <p:txBody>
          <a:bodyPr wrap="square" lIns="0" tIns="0" rIns="0" bIns="0" rtlCol="0" anchor="ctr"/>
          <a:lstStyle/>
          <a:p>
            <a:pPr marL="0" indent="0" algn="r">
              <a:buNone/>
            </a:pPr>
            <a:r>
              <a:rPr lang="en-US" sz="1000" dirty="0">
                <a:solidFill>
                  <a:srgbClr val="7A7F76"/>
                </a:solidFill>
                <a:latin typeface="Calibri" pitchFamily="34" charset="0"/>
                <a:ea typeface="Calibri" pitchFamily="34" charset="-122"/>
                <a:cs typeface="Calibri" pitchFamily="34" charset="-120"/>
              </a:rPr>
              <a:t>2  /  9</a:t>
            </a:r>
            <a:endParaRPr lang="en-US" sz="1000" dirty="0"/>
          </a:p>
        </p:txBody>
      </p:sp>
      <p:sp>
        <p:nvSpPr>
          <p:cNvPr id="5" name="Text 3"/>
          <p:cNvSpPr/>
          <p:nvPr/>
        </p:nvSpPr>
        <p:spPr>
          <a:xfrm>
            <a:off x="685800" y="777240"/>
            <a:ext cx="10058400" cy="548640"/>
          </a:xfrm>
          <a:prstGeom prst="rect">
            <a:avLst/>
          </a:prstGeom>
          <a:noFill/>
          <a:ln/>
        </p:spPr>
        <p:txBody>
          <a:bodyPr wrap="square" lIns="0" tIns="0" rIns="0" bIns="0" rtlCol="0" anchor="ctr"/>
          <a:lstStyle/>
          <a:p>
            <a:pPr marL="0" indent="0">
              <a:buNone/>
            </a:pPr>
            <a:r>
              <a:rPr lang="en-US" sz="3200" dirty="0">
                <a:solidFill>
                  <a:srgbClr val="1B2420"/>
                </a:solidFill>
                <a:latin typeface="Georgia" pitchFamily="34" charset="0"/>
                <a:ea typeface="Georgia" pitchFamily="34" charset="-122"/>
                <a:cs typeface="Georgia" pitchFamily="34" charset="-120"/>
              </a:rPr>
              <a:t>What is MIKE SHE?</a:t>
            </a:r>
            <a:endParaRPr lang="en-US" sz="3200" dirty="0"/>
          </a:p>
        </p:txBody>
      </p:sp>
      <p:sp>
        <p:nvSpPr>
          <p:cNvPr id="6" name="Shape 4"/>
          <p:cNvSpPr/>
          <p:nvPr/>
        </p:nvSpPr>
        <p:spPr>
          <a:xfrm>
            <a:off x="685800" y="1508760"/>
            <a:ext cx="10789920" cy="1737360"/>
          </a:xfrm>
          <a:prstGeom prst="roundRect">
            <a:avLst>
              <a:gd name="adj" fmla="val 4211"/>
            </a:avLst>
          </a:prstGeom>
          <a:solidFill>
            <a:srgbClr val="F5EFE2"/>
          </a:solidFill>
          <a:ln w="12700">
            <a:solidFill>
              <a:srgbClr val="D9D2C0"/>
            </a:solidFill>
            <a:prstDash val="solid"/>
          </a:ln>
        </p:spPr>
      </p:sp>
      <p:sp>
        <p:nvSpPr>
          <p:cNvPr id="7" name="Text 5"/>
          <p:cNvSpPr/>
          <p:nvPr/>
        </p:nvSpPr>
        <p:spPr>
          <a:xfrm>
            <a:off x="960120" y="1691640"/>
            <a:ext cx="10241280" cy="1371600"/>
          </a:xfrm>
          <a:prstGeom prst="rect">
            <a:avLst/>
          </a:prstGeom>
          <a:noFill/>
          <a:ln/>
        </p:spPr>
        <p:txBody>
          <a:bodyPr wrap="square" lIns="0" tIns="0" rIns="0" bIns="0" rtlCol="0" anchor="ctr"/>
          <a:lstStyle/>
          <a:p>
            <a:pPr marL="0" indent="0">
              <a:buNone/>
            </a:pPr>
            <a:r>
              <a:rPr lang="en-US" sz="1500" dirty="0">
                <a:solidFill>
                  <a:srgbClr val="3B3F3A"/>
                </a:solidFill>
                <a:latin typeface="Calibri" pitchFamily="34" charset="0"/>
                <a:ea typeface="Calibri" pitchFamily="34" charset="-122"/>
                <a:cs typeface="Calibri" pitchFamily="34" charset="-120"/>
              </a:rPr>
              <a:t>MIKE SHE is a fully integrated hydrological simulation software system designed to model the complete land-based water cycle with exceptional scientific </a:t>
            </a:r>
            <a:r>
              <a:rPr lang="en-US" sz="1500" dirty="0" err="1">
                <a:solidFill>
                  <a:srgbClr val="3B3F3A"/>
                </a:solidFill>
                <a:latin typeface="Calibri" pitchFamily="34" charset="0"/>
                <a:ea typeface="Calibri" pitchFamily="34" charset="-122"/>
                <a:cs typeface="Calibri" pitchFamily="34" charset="-120"/>
              </a:rPr>
              <a:t>rigour</a:t>
            </a:r>
            <a:r>
              <a:rPr lang="en-US" sz="1500" dirty="0">
                <a:solidFill>
                  <a:srgbClr val="3B3F3A"/>
                </a:solidFill>
                <a:latin typeface="Calibri" pitchFamily="34" charset="0"/>
                <a:ea typeface="Calibri" pitchFamily="34" charset="-122"/>
                <a:cs typeface="Calibri" pitchFamily="34" charset="-120"/>
              </a:rPr>
              <a:t>. It combine surface water, unsaturated zone, groundwater, evapotranspiration and river interactions within a single, physically-based framework, enabling reliable catchment-scale analysis.</a:t>
            </a:r>
            <a:endParaRPr lang="en-US" sz="1500" dirty="0"/>
          </a:p>
        </p:txBody>
      </p:sp>
      <p:sp>
        <p:nvSpPr>
          <p:cNvPr id="8" name="Shape 6"/>
          <p:cNvSpPr/>
          <p:nvPr/>
        </p:nvSpPr>
        <p:spPr>
          <a:xfrm>
            <a:off x="685800" y="3520440"/>
            <a:ext cx="3429000" cy="2286000"/>
          </a:xfrm>
          <a:prstGeom prst="roundRect">
            <a:avLst>
              <a:gd name="adj" fmla="val 3200"/>
            </a:avLst>
          </a:prstGeom>
          <a:solidFill>
            <a:srgbClr val="F5EFE2"/>
          </a:solidFill>
          <a:ln w="12700">
            <a:solidFill>
              <a:srgbClr val="D9D2C0"/>
            </a:solidFill>
            <a:prstDash val="solid"/>
          </a:ln>
        </p:spPr>
      </p:sp>
      <p:sp>
        <p:nvSpPr>
          <p:cNvPr id="9" name="Shape 7"/>
          <p:cNvSpPr/>
          <p:nvPr/>
        </p:nvSpPr>
        <p:spPr>
          <a:xfrm>
            <a:off x="685800" y="3520440"/>
            <a:ext cx="91440" cy="2286000"/>
          </a:xfrm>
          <a:prstGeom prst="rect">
            <a:avLst/>
          </a:prstGeom>
          <a:solidFill>
            <a:srgbClr val="3B5D3A"/>
          </a:solidFill>
          <a:ln/>
        </p:spPr>
      </p:sp>
      <p:sp>
        <p:nvSpPr>
          <p:cNvPr id="10" name="Text 8"/>
          <p:cNvSpPr/>
          <p:nvPr/>
        </p:nvSpPr>
        <p:spPr>
          <a:xfrm>
            <a:off x="960120" y="3703320"/>
            <a:ext cx="3017520" cy="365760"/>
          </a:xfrm>
          <a:prstGeom prst="rect">
            <a:avLst/>
          </a:prstGeom>
          <a:noFill/>
          <a:ln/>
        </p:spPr>
        <p:txBody>
          <a:bodyPr wrap="square" lIns="0" tIns="0" rIns="0" bIns="0" rtlCol="0" anchor="ctr"/>
          <a:lstStyle/>
          <a:p>
            <a:pPr marL="0" indent="0">
              <a:buNone/>
            </a:pPr>
            <a:r>
              <a:rPr lang="en-US" sz="1600" dirty="0">
                <a:solidFill>
                  <a:srgbClr val="3B5D3A"/>
                </a:solidFill>
                <a:latin typeface="Georgia" pitchFamily="34" charset="0"/>
                <a:ea typeface="Georgia" pitchFamily="34" charset="-122"/>
                <a:cs typeface="Georgia" pitchFamily="34" charset="-120"/>
              </a:rPr>
              <a:t>Physically-based</a:t>
            </a:r>
            <a:endParaRPr lang="en-US" sz="1600" dirty="0"/>
          </a:p>
        </p:txBody>
      </p:sp>
      <p:sp>
        <p:nvSpPr>
          <p:cNvPr id="11" name="Text 9"/>
          <p:cNvSpPr/>
          <p:nvPr/>
        </p:nvSpPr>
        <p:spPr>
          <a:xfrm>
            <a:off x="960120" y="4160520"/>
            <a:ext cx="3017520" cy="1371600"/>
          </a:xfrm>
          <a:prstGeom prst="rect">
            <a:avLst/>
          </a:prstGeom>
          <a:noFill/>
          <a:ln/>
        </p:spPr>
        <p:txBody>
          <a:bodyPr wrap="square" lIns="0" tIns="0" rIns="0" bIns="0" rtlCol="0" anchor="ctr"/>
          <a:lstStyle/>
          <a:p>
            <a:pPr marL="0" indent="0">
              <a:buNone/>
            </a:pPr>
            <a:r>
              <a:rPr lang="en-US" sz="1300" dirty="0">
                <a:solidFill>
                  <a:srgbClr val="3B3F3A"/>
                </a:solidFill>
                <a:latin typeface="Calibri" pitchFamily="34" charset="0"/>
                <a:ea typeface="Calibri" pitchFamily="34" charset="-122"/>
                <a:cs typeface="Calibri" pitchFamily="34" charset="-120"/>
              </a:rPr>
              <a:t>Solves governing equations (Richards, Darcy, Saint-Venant) rather than relying solely on empirical relationships.</a:t>
            </a:r>
            <a:endParaRPr lang="en-US" sz="1300" dirty="0"/>
          </a:p>
        </p:txBody>
      </p:sp>
      <p:sp>
        <p:nvSpPr>
          <p:cNvPr id="12" name="Shape 10"/>
          <p:cNvSpPr/>
          <p:nvPr/>
        </p:nvSpPr>
        <p:spPr>
          <a:xfrm>
            <a:off x="4343400" y="3520440"/>
            <a:ext cx="3429000" cy="2286000"/>
          </a:xfrm>
          <a:prstGeom prst="roundRect">
            <a:avLst>
              <a:gd name="adj" fmla="val 3200"/>
            </a:avLst>
          </a:prstGeom>
          <a:solidFill>
            <a:srgbClr val="F5EFE2"/>
          </a:solidFill>
          <a:ln w="12700">
            <a:solidFill>
              <a:srgbClr val="D9D2C0"/>
            </a:solidFill>
            <a:prstDash val="solid"/>
          </a:ln>
        </p:spPr>
      </p:sp>
      <p:sp>
        <p:nvSpPr>
          <p:cNvPr id="13" name="Shape 11"/>
          <p:cNvSpPr/>
          <p:nvPr/>
        </p:nvSpPr>
        <p:spPr>
          <a:xfrm>
            <a:off x="4343400" y="3520440"/>
            <a:ext cx="91440" cy="2286000"/>
          </a:xfrm>
          <a:prstGeom prst="rect">
            <a:avLst/>
          </a:prstGeom>
          <a:solidFill>
            <a:srgbClr val="3B5D3A"/>
          </a:solidFill>
          <a:ln/>
        </p:spPr>
      </p:sp>
      <p:sp>
        <p:nvSpPr>
          <p:cNvPr id="14" name="Text 12"/>
          <p:cNvSpPr/>
          <p:nvPr/>
        </p:nvSpPr>
        <p:spPr>
          <a:xfrm>
            <a:off x="4617720" y="3703320"/>
            <a:ext cx="3017520" cy="365760"/>
          </a:xfrm>
          <a:prstGeom prst="rect">
            <a:avLst/>
          </a:prstGeom>
          <a:noFill/>
          <a:ln/>
        </p:spPr>
        <p:txBody>
          <a:bodyPr wrap="square" lIns="0" tIns="0" rIns="0" bIns="0" rtlCol="0" anchor="ctr"/>
          <a:lstStyle/>
          <a:p>
            <a:pPr marL="0" indent="0">
              <a:buNone/>
            </a:pPr>
            <a:r>
              <a:rPr lang="en-US" sz="1600" dirty="0">
                <a:solidFill>
                  <a:srgbClr val="3B5D3A"/>
                </a:solidFill>
                <a:latin typeface="Georgia" pitchFamily="34" charset="0"/>
                <a:ea typeface="Georgia" pitchFamily="34" charset="-122"/>
                <a:cs typeface="Georgia" pitchFamily="34" charset="-120"/>
              </a:rPr>
              <a:t>Fully distributed</a:t>
            </a:r>
            <a:endParaRPr lang="en-US" sz="1600" dirty="0"/>
          </a:p>
        </p:txBody>
      </p:sp>
      <p:sp>
        <p:nvSpPr>
          <p:cNvPr id="15" name="Text 13"/>
          <p:cNvSpPr/>
          <p:nvPr/>
        </p:nvSpPr>
        <p:spPr>
          <a:xfrm>
            <a:off x="4617720" y="4160520"/>
            <a:ext cx="3017520" cy="1371600"/>
          </a:xfrm>
          <a:prstGeom prst="rect">
            <a:avLst/>
          </a:prstGeom>
          <a:noFill/>
          <a:ln/>
        </p:spPr>
        <p:txBody>
          <a:bodyPr wrap="square" lIns="0" tIns="0" rIns="0" bIns="0" rtlCol="0" anchor="ctr"/>
          <a:lstStyle/>
          <a:p>
            <a:pPr marL="0" indent="0">
              <a:buNone/>
            </a:pPr>
            <a:r>
              <a:rPr lang="en-US" sz="1300" dirty="0">
                <a:solidFill>
                  <a:srgbClr val="3B3F3A"/>
                </a:solidFill>
                <a:latin typeface="Calibri" pitchFamily="34" charset="0"/>
                <a:ea typeface="Calibri" pitchFamily="34" charset="-122"/>
                <a:cs typeface="Calibri" pitchFamily="34" charset="-120"/>
              </a:rPr>
              <a:t>Represents spatial variability across a grid; every cell can have unique soil, land-use and climate properties.</a:t>
            </a:r>
            <a:endParaRPr lang="en-US" sz="1300" dirty="0"/>
          </a:p>
        </p:txBody>
      </p:sp>
      <p:sp>
        <p:nvSpPr>
          <p:cNvPr id="16" name="Shape 14"/>
          <p:cNvSpPr/>
          <p:nvPr/>
        </p:nvSpPr>
        <p:spPr>
          <a:xfrm>
            <a:off x="8001000" y="3520440"/>
            <a:ext cx="3429000" cy="2286000"/>
          </a:xfrm>
          <a:prstGeom prst="roundRect">
            <a:avLst>
              <a:gd name="adj" fmla="val 3200"/>
            </a:avLst>
          </a:prstGeom>
          <a:solidFill>
            <a:srgbClr val="F5EFE2"/>
          </a:solidFill>
          <a:ln w="12700">
            <a:solidFill>
              <a:srgbClr val="D9D2C0"/>
            </a:solidFill>
            <a:prstDash val="solid"/>
          </a:ln>
        </p:spPr>
      </p:sp>
      <p:sp>
        <p:nvSpPr>
          <p:cNvPr id="17" name="Shape 15"/>
          <p:cNvSpPr/>
          <p:nvPr/>
        </p:nvSpPr>
        <p:spPr>
          <a:xfrm>
            <a:off x="8001000" y="3520440"/>
            <a:ext cx="91440" cy="2286000"/>
          </a:xfrm>
          <a:prstGeom prst="rect">
            <a:avLst/>
          </a:prstGeom>
          <a:solidFill>
            <a:srgbClr val="3B5D3A"/>
          </a:solidFill>
          <a:ln/>
        </p:spPr>
      </p:sp>
      <p:sp>
        <p:nvSpPr>
          <p:cNvPr id="18" name="Text 16"/>
          <p:cNvSpPr/>
          <p:nvPr/>
        </p:nvSpPr>
        <p:spPr>
          <a:xfrm>
            <a:off x="8275320" y="3703320"/>
            <a:ext cx="3017520" cy="365760"/>
          </a:xfrm>
          <a:prstGeom prst="rect">
            <a:avLst/>
          </a:prstGeom>
          <a:noFill/>
          <a:ln/>
        </p:spPr>
        <p:txBody>
          <a:bodyPr wrap="square" lIns="0" tIns="0" rIns="0" bIns="0" rtlCol="0" anchor="ctr"/>
          <a:lstStyle/>
          <a:p>
            <a:pPr marL="0" indent="0">
              <a:buNone/>
            </a:pPr>
            <a:r>
              <a:rPr lang="en-US" sz="1600" dirty="0">
                <a:solidFill>
                  <a:srgbClr val="3B5D3A"/>
                </a:solidFill>
                <a:latin typeface="Georgia" pitchFamily="34" charset="0"/>
                <a:ea typeface="Georgia" pitchFamily="34" charset="-122"/>
                <a:cs typeface="Georgia" pitchFamily="34" charset="-120"/>
              </a:rPr>
              <a:t>Modular &amp; flexible</a:t>
            </a:r>
            <a:endParaRPr lang="en-US" sz="1600" dirty="0"/>
          </a:p>
        </p:txBody>
      </p:sp>
      <p:sp>
        <p:nvSpPr>
          <p:cNvPr id="19" name="Text 17"/>
          <p:cNvSpPr/>
          <p:nvPr/>
        </p:nvSpPr>
        <p:spPr>
          <a:xfrm>
            <a:off x="8275320" y="4160520"/>
            <a:ext cx="3017520" cy="1371600"/>
          </a:xfrm>
          <a:prstGeom prst="rect">
            <a:avLst/>
          </a:prstGeom>
          <a:noFill/>
          <a:ln/>
        </p:spPr>
        <p:txBody>
          <a:bodyPr wrap="square" lIns="0" tIns="0" rIns="0" bIns="0" rtlCol="0" anchor="ctr"/>
          <a:lstStyle/>
          <a:p>
            <a:pPr marL="0" indent="0">
              <a:buNone/>
            </a:pPr>
            <a:r>
              <a:rPr lang="en-US" sz="1300" dirty="0">
                <a:solidFill>
                  <a:srgbClr val="3B3F3A"/>
                </a:solidFill>
                <a:latin typeface="Calibri" pitchFamily="34" charset="0"/>
                <a:ea typeface="Calibri" pitchFamily="34" charset="-122"/>
                <a:cs typeface="Calibri" pitchFamily="34" charset="-120"/>
              </a:rPr>
              <a:t>Users choose process complexity (simple water-balance to full 3-D) according to data availability and study goals.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231A82-7DF3-CF29-8CF8-CEAEA3C91570}"/>
              </a:ext>
            </a:extLst>
          </p:cNvPr>
          <p:cNvPicPr>
            <a:picLocks noChangeAspect="1"/>
          </p:cNvPicPr>
          <p:nvPr/>
        </p:nvPicPr>
        <p:blipFill>
          <a:blip r:embed="rId2"/>
          <a:srcRect/>
          <a:stretch/>
        </p:blipFill>
        <p:spPr>
          <a:xfrm>
            <a:off x="634175" y="0"/>
            <a:ext cx="10287000" cy="6858000"/>
          </a:xfrm>
          <a:prstGeom prst="rect">
            <a:avLst/>
          </a:prstGeom>
        </p:spPr>
      </p:pic>
    </p:spTree>
    <p:extLst>
      <p:ext uri="{BB962C8B-B14F-4D97-AF65-F5344CB8AC3E}">
        <p14:creationId xmlns:p14="http://schemas.microsoft.com/office/powerpoint/2010/main" val="2123907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092BDA-8888-1788-1F70-A0D639616ED5}"/>
              </a:ext>
            </a:extLst>
          </p:cNvPr>
          <p:cNvPicPr>
            <a:picLocks noChangeAspect="1"/>
          </p:cNvPicPr>
          <p:nvPr/>
        </p:nvPicPr>
        <p:blipFill>
          <a:blip r:embed="rId2"/>
          <a:stretch>
            <a:fillRect/>
          </a:stretch>
        </p:blipFill>
        <p:spPr>
          <a:xfrm>
            <a:off x="0" y="0"/>
            <a:ext cx="10035453" cy="6858000"/>
          </a:xfrm>
          <a:prstGeom prst="rect">
            <a:avLst/>
          </a:prstGeom>
        </p:spPr>
      </p:pic>
    </p:spTree>
    <p:extLst>
      <p:ext uri="{BB962C8B-B14F-4D97-AF65-F5344CB8AC3E}">
        <p14:creationId xmlns:p14="http://schemas.microsoft.com/office/powerpoint/2010/main" val="3573411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567980-EF72-67F0-DDEA-1B7CA4500744}"/>
              </a:ext>
            </a:extLst>
          </p:cNvPr>
          <p:cNvPicPr>
            <a:picLocks noChangeAspect="1"/>
          </p:cNvPicPr>
          <p:nvPr/>
        </p:nvPicPr>
        <p:blipFill>
          <a:blip r:embed="rId2"/>
          <a:stretch>
            <a:fillRect/>
          </a:stretch>
        </p:blipFill>
        <p:spPr>
          <a:xfrm>
            <a:off x="-1" y="0"/>
            <a:ext cx="7841059" cy="6858000"/>
          </a:xfrm>
          <a:prstGeom prst="rect">
            <a:avLst/>
          </a:prstGeom>
        </p:spPr>
      </p:pic>
    </p:spTree>
    <p:extLst>
      <p:ext uri="{BB962C8B-B14F-4D97-AF65-F5344CB8AC3E}">
        <p14:creationId xmlns:p14="http://schemas.microsoft.com/office/powerpoint/2010/main" val="4028560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347472"/>
            <a:ext cx="7315200" cy="274320"/>
          </a:xfrm>
          <a:prstGeom prst="rect">
            <a:avLst/>
          </a:prstGeom>
          <a:noFill/>
          <a:ln/>
        </p:spPr>
        <p:txBody>
          <a:bodyPr wrap="square" lIns="0" tIns="0" rIns="0" bIns="0" rtlCol="0" anchor="ctr"/>
          <a:lstStyle/>
          <a:p>
            <a:pPr marL="0" indent="0">
              <a:buNone/>
            </a:pPr>
            <a:r>
              <a:rPr lang="en-US" sz="1100" kern="0" spc="300" dirty="0">
                <a:solidFill>
                  <a:srgbClr val="7A7F76"/>
                </a:solidFill>
                <a:latin typeface="Calibri" pitchFamily="34" charset="0"/>
                <a:ea typeface="Calibri" pitchFamily="34" charset="-122"/>
                <a:cs typeface="Calibri" pitchFamily="34" charset="-120"/>
              </a:rPr>
              <a:t>MODEL STRUCTURE</a:t>
            </a:r>
            <a:endParaRPr lang="en-US" sz="1100" dirty="0"/>
          </a:p>
        </p:txBody>
      </p:sp>
      <p:sp>
        <p:nvSpPr>
          <p:cNvPr id="3" name="Text 1"/>
          <p:cNvSpPr/>
          <p:nvPr/>
        </p:nvSpPr>
        <p:spPr>
          <a:xfrm>
            <a:off x="9859975" y="347472"/>
            <a:ext cx="1645920" cy="274320"/>
          </a:xfrm>
          <a:prstGeom prst="rect">
            <a:avLst/>
          </a:prstGeom>
          <a:noFill/>
          <a:ln/>
        </p:spPr>
        <p:txBody>
          <a:bodyPr wrap="square" lIns="0" tIns="0" rIns="0" bIns="0" rtlCol="0" anchor="ctr"/>
          <a:lstStyle/>
          <a:p>
            <a:pPr marL="0" indent="0" algn="r">
              <a:buNone/>
            </a:pPr>
            <a:r>
              <a:rPr lang="en-US" sz="1100" kern="0" spc="300" dirty="0">
                <a:solidFill>
                  <a:srgbClr val="7A7F76"/>
                </a:solidFill>
                <a:latin typeface="Calibri" pitchFamily="34" charset="0"/>
                <a:ea typeface="Calibri" pitchFamily="34" charset="-122"/>
                <a:cs typeface="Calibri" pitchFamily="34" charset="-120"/>
              </a:rPr>
              <a:t>03</a:t>
            </a:r>
            <a:endParaRPr lang="en-US" sz="1100" dirty="0"/>
          </a:p>
        </p:txBody>
      </p:sp>
      <p:sp>
        <p:nvSpPr>
          <p:cNvPr id="4" name="Text 2"/>
          <p:cNvSpPr/>
          <p:nvPr/>
        </p:nvSpPr>
        <p:spPr>
          <a:xfrm>
            <a:off x="10134295" y="6492240"/>
            <a:ext cx="1371600" cy="228600"/>
          </a:xfrm>
          <a:prstGeom prst="rect">
            <a:avLst/>
          </a:prstGeom>
          <a:noFill/>
          <a:ln/>
        </p:spPr>
        <p:txBody>
          <a:bodyPr wrap="square" lIns="0" tIns="0" rIns="0" bIns="0" rtlCol="0" anchor="ctr"/>
          <a:lstStyle/>
          <a:p>
            <a:pPr marL="0" indent="0" algn="r">
              <a:buNone/>
            </a:pPr>
            <a:r>
              <a:rPr lang="en-US" sz="1000" dirty="0">
                <a:solidFill>
                  <a:srgbClr val="7A7F76"/>
                </a:solidFill>
                <a:latin typeface="Calibri" pitchFamily="34" charset="0"/>
                <a:ea typeface="Calibri" pitchFamily="34" charset="-122"/>
                <a:cs typeface="Calibri" pitchFamily="34" charset="-120"/>
              </a:rPr>
              <a:t>3  /  9</a:t>
            </a:r>
            <a:endParaRPr lang="en-US" sz="1000" dirty="0"/>
          </a:p>
        </p:txBody>
      </p:sp>
      <p:sp>
        <p:nvSpPr>
          <p:cNvPr id="5" name="Text 3"/>
          <p:cNvSpPr/>
          <p:nvPr/>
        </p:nvSpPr>
        <p:spPr>
          <a:xfrm>
            <a:off x="685800" y="777240"/>
            <a:ext cx="10058400" cy="502920"/>
          </a:xfrm>
          <a:prstGeom prst="rect">
            <a:avLst/>
          </a:prstGeom>
          <a:noFill/>
          <a:ln/>
        </p:spPr>
        <p:txBody>
          <a:bodyPr wrap="square" lIns="0" tIns="0" rIns="0" bIns="0" rtlCol="0" anchor="ctr"/>
          <a:lstStyle/>
          <a:p>
            <a:pPr marL="0" indent="0">
              <a:buNone/>
            </a:pPr>
            <a:r>
              <a:rPr lang="en-US" sz="3000" dirty="0">
                <a:solidFill>
                  <a:srgbClr val="1B2420"/>
                </a:solidFill>
                <a:latin typeface="Georgia" pitchFamily="34" charset="0"/>
                <a:ea typeface="Georgia" pitchFamily="34" charset="-122"/>
                <a:cs typeface="Georgia" pitchFamily="34" charset="-120"/>
              </a:rPr>
              <a:t>Core Process Components</a:t>
            </a:r>
            <a:endParaRPr lang="en-US" sz="3000" dirty="0"/>
          </a:p>
        </p:txBody>
      </p:sp>
      <p:sp>
        <p:nvSpPr>
          <p:cNvPr id="6" name="Text 4"/>
          <p:cNvSpPr/>
          <p:nvPr/>
        </p:nvSpPr>
        <p:spPr>
          <a:xfrm>
            <a:off x="685800" y="1280160"/>
            <a:ext cx="10515600" cy="365760"/>
          </a:xfrm>
          <a:prstGeom prst="rect">
            <a:avLst/>
          </a:prstGeom>
          <a:noFill/>
          <a:ln/>
        </p:spPr>
        <p:txBody>
          <a:bodyPr wrap="square" lIns="0" tIns="0" rIns="0" bIns="0" rtlCol="0" anchor="ctr"/>
          <a:lstStyle/>
          <a:p>
            <a:pPr marL="0" indent="0">
              <a:buNone/>
            </a:pPr>
            <a:r>
              <a:rPr lang="en-US" sz="1400" dirty="0">
                <a:solidFill>
                  <a:srgbClr val="3B3F3A"/>
                </a:solidFill>
                <a:latin typeface="Calibri" pitchFamily="34" charset="0"/>
                <a:ea typeface="Calibri" pitchFamily="34" charset="-122"/>
                <a:cs typeface="Calibri" pitchFamily="34" charset="-120"/>
              </a:rPr>
              <a:t>Six process-oriented modules coordinated by a central FRAME component that manages time-stepping and data exchange.</a:t>
            </a:r>
            <a:endParaRPr lang="en-US" sz="1400" dirty="0"/>
          </a:p>
        </p:txBody>
      </p:sp>
      <p:sp>
        <p:nvSpPr>
          <p:cNvPr id="7" name="Shape 5"/>
          <p:cNvSpPr/>
          <p:nvPr/>
        </p:nvSpPr>
        <p:spPr>
          <a:xfrm>
            <a:off x="685800" y="1828800"/>
            <a:ext cx="3520440" cy="2011680"/>
          </a:xfrm>
          <a:prstGeom prst="roundRect">
            <a:avLst>
              <a:gd name="adj" fmla="val 3636"/>
            </a:avLst>
          </a:prstGeom>
          <a:solidFill>
            <a:srgbClr val="F5EFE2"/>
          </a:solidFill>
          <a:ln w="12700">
            <a:solidFill>
              <a:srgbClr val="D9D2C0"/>
            </a:solidFill>
            <a:prstDash val="solid"/>
          </a:ln>
        </p:spPr>
      </p:sp>
      <p:sp>
        <p:nvSpPr>
          <p:cNvPr id="8" name="Shape 6"/>
          <p:cNvSpPr/>
          <p:nvPr/>
        </p:nvSpPr>
        <p:spPr>
          <a:xfrm>
            <a:off x="868680" y="2011680"/>
            <a:ext cx="640080" cy="365760"/>
          </a:xfrm>
          <a:prstGeom prst="roundRect">
            <a:avLst>
              <a:gd name="adj" fmla="val 15000"/>
            </a:avLst>
          </a:prstGeom>
          <a:solidFill>
            <a:srgbClr val="3B5D3A"/>
          </a:solidFill>
          <a:ln/>
        </p:spPr>
      </p:sp>
      <p:sp>
        <p:nvSpPr>
          <p:cNvPr id="9" name="Text 7"/>
          <p:cNvSpPr/>
          <p:nvPr/>
        </p:nvSpPr>
        <p:spPr>
          <a:xfrm>
            <a:off x="868680" y="2057400"/>
            <a:ext cx="64008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ET</a:t>
            </a:r>
            <a:endParaRPr lang="en-US" sz="1300" dirty="0"/>
          </a:p>
        </p:txBody>
      </p:sp>
      <p:sp>
        <p:nvSpPr>
          <p:cNvPr id="10" name="Text 8"/>
          <p:cNvSpPr/>
          <p:nvPr/>
        </p:nvSpPr>
        <p:spPr>
          <a:xfrm>
            <a:off x="1645920" y="2057400"/>
            <a:ext cx="2286000" cy="320040"/>
          </a:xfrm>
          <a:prstGeom prst="rect">
            <a:avLst/>
          </a:prstGeom>
          <a:noFill/>
          <a:ln/>
        </p:spPr>
        <p:txBody>
          <a:bodyPr wrap="square" lIns="0" tIns="0" rIns="0" bIns="0" rtlCol="0" anchor="ctr"/>
          <a:lstStyle/>
          <a:p>
            <a:pPr marL="0" indent="0">
              <a:buNone/>
            </a:pPr>
            <a:r>
              <a:rPr lang="en-US" sz="1500" dirty="0">
                <a:solidFill>
                  <a:srgbClr val="1B2420"/>
                </a:solidFill>
                <a:latin typeface="Georgia" pitchFamily="34" charset="0"/>
                <a:ea typeface="Georgia" pitchFamily="34" charset="-122"/>
                <a:cs typeface="Georgia" pitchFamily="34" charset="-120"/>
              </a:rPr>
              <a:t>Evapotranspiration</a:t>
            </a:r>
            <a:endParaRPr lang="en-US" sz="1500" dirty="0"/>
          </a:p>
        </p:txBody>
      </p:sp>
      <p:sp>
        <p:nvSpPr>
          <p:cNvPr id="11" name="Text 9"/>
          <p:cNvSpPr/>
          <p:nvPr/>
        </p:nvSpPr>
        <p:spPr>
          <a:xfrm>
            <a:off x="914400" y="2560320"/>
            <a:ext cx="3108960" cy="1097280"/>
          </a:xfrm>
          <a:prstGeom prst="rect">
            <a:avLst/>
          </a:prstGeom>
          <a:noFill/>
          <a:ln/>
        </p:spPr>
        <p:txBody>
          <a:bodyPr wrap="square" lIns="0" tIns="0" rIns="0" bIns="0" rtlCol="0" anchor="ctr"/>
          <a:lstStyle/>
          <a:p>
            <a:pPr marL="0" indent="0">
              <a:buNone/>
            </a:pPr>
            <a:r>
              <a:rPr lang="en-US" sz="1300" dirty="0">
                <a:solidFill>
                  <a:srgbClr val="3B3F3A"/>
                </a:solidFill>
                <a:latin typeface="Calibri" pitchFamily="34" charset="0"/>
                <a:ea typeface="Calibri" pitchFamily="34" charset="-122"/>
                <a:cs typeface="Calibri" pitchFamily="34" charset="-120"/>
              </a:rPr>
              <a:t>Interception, canopy &amp; soil evaporation, plant transpiration (Kristensen–Jensen or simplified two-layer).</a:t>
            </a:r>
            <a:endParaRPr lang="en-US" sz="1300" dirty="0"/>
          </a:p>
        </p:txBody>
      </p:sp>
      <p:sp>
        <p:nvSpPr>
          <p:cNvPr id="12" name="Shape 10"/>
          <p:cNvSpPr/>
          <p:nvPr/>
        </p:nvSpPr>
        <p:spPr>
          <a:xfrm>
            <a:off x="4389120" y="1828800"/>
            <a:ext cx="3520440" cy="2011680"/>
          </a:xfrm>
          <a:prstGeom prst="roundRect">
            <a:avLst>
              <a:gd name="adj" fmla="val 3636"/>
            </a:avLst>
          </a:prstGeom>
          <a:solidFill>
            <a:srgbClr val="F5EFE2"/>
          </a:solidFill>
          <a:ln w="12700">
            <a:solidFill>
              <a:srgbClr val="D9D2C0"/>
            </a:solidFill>
            <a:prstDash val="solid"/>
          </a:ln>
        </p:spPr>
      </p:sp>
      <p:sp>
        <p:nvSpPr>
          <p:cNvPr id="13" name="Shape 11"/>
          <p:cNvSpPr/>
          <p:nvPr/>
        </p:nvSpPr>
        <p:spPr>
          <a:xfrm>
            <a:off x="4572000" y="2011680"/>
            <a:ext cx="640080" cy="365760"/>
          </a:xfrm>
          <a:prstGeom prst="roundRect">
            <a:avLst>
              <a:gd name="adj" fmla="val 15000"/>
            </a:avLst>
          </a:prstGeom>
          <a:solidFill>
            <a:srgbClr val="3B5D3A"/>
          </a:solidFill>
          <a:ln/>
        </p:spPr>
      </p:sp>
      <p:sp>
        <p:nvSpPr>
          <p:cNvPr id="14" name="Text 12"/>
          <p:cNvSpPr/>
          <p:nvPr/>
        </p:nvSpPr>
        <p:spPr>
          <a:xfrm>
            <a:off x="4572000" y="2057400"/>
            <a:ext cx="64008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OC</a:t>
            </a:r>
            <a:endParaRPr lang="en-US" sz="1300" dirty="0"/>
          </a:p>
        </p:txBody>
      </p:sp>
      <p:sp>
        <p:nvSpPr>
          <p:cNvPr id="15" name="Text 13"/>
          <p:cNvSpPr/>
          <p:nvPr/>
        </p:nvSpPr>
        <p:spPr>
          <a:xfrm>
            <a:off x="5349240" y="2057400"/>
            <a:ext cx="2286000" cy="320040"/>
          </a:xfrm>
          <a:prstGeom prst="rect">
            <a:avLst/>
          </a:prstGeom>
          <a:noFill/>
          <a:ln/>
        </p:spPr>
        <p:txBody>
          <a:bodyPr wrap="square" lIns="0" tIns="0" rIns="0" bIns="0" rtlCol="0" anchor="ctr"/>
          <a:lstStyle/>
          <a:p>
            <a:pPr marL="0" indent="0">
              <a:buNone/>
            </a:pPr>
            <a:r>
              <a:rPr lang="en-US" sz="1500" dirty="0">
                <a:solidFill>
                  <a:srgbClr val="1B2420"/>
                </a:solidFill>
                <a:latin typeface="Georgia" pitchFamily="34" charset="0"/>
                <a:ea typeface="Georgia" pitchFamily="34" charset="-122"/>
                <a:cs typeface="Georgia" pitchFamily="34" charset="-120"/>
              </a:rPr>
              <a:t>Overland &amp; Channel</a:t>
            </a:r>
            <a:endParaRPr lang="en-US" sz="1500" dirty="0"/>
          </a:p>
        </p:txBody>
      </p:sp>
      <p:sp>
        <p:nvSpPr>
          <p:cNvPr id="16" name="Text 14"/>
          <p:cNvSpPr/>
          <p:nvPr/>
        </p:nvSpPr>
        <p:spPr>
          <a:xfrm>
            <a:off x="4617720" y="2560320"/>
            <a:ext cx="3108960" cy="1097280"/>
          </a:xfrm>
          <a:prstGeom prst="rect">
            <a:avLst/>
          </a:prstGeom>
          <a:noFill/>
          <a:ln/>
        </p:spPr>
        <p:txBody>
          <a:bodyPr wrap="square" lIns="0" tIns="0" rIns="0" bIns="0" rtlCol="0" anchor="ctr"/>
          <a:lstStyle/>
          <a:p>
            <a:pPr marL="0" indent="0">
              <a:buNone/>
            </a:pPr>
            <a:r>
              <a:rPr lang="en-US" sz="1300" dirty="0">
                <a:solidFill>
                  <a:srgbClr val="3B3F3A"/>
                </a:solidFill>
                <a:latin typeface="Calibri" pitchFamily="34" charset="0"/>
                <a:ea typeface="Calibri" pitchFamily="34" charset="-122"/>
                <a:cs typeface="Calibri" pitchFamily="34" charset="-120"/>
              </a:rPr>
              <a:t>2-D overland flow (diffusive wave) + 1-D channel / river network (MIKE 1D).</a:t>
            </a:r>
            <a:endParaRPr lang="en-US" sz="1300" dirty="0"/>
          </a:p>
        </p:txBody>
      </p:sp>
      <p:sp>
        <p:nvSpPr>
          <p:cNvPr id="17" name="Shape 15"/>
          <p:cNvSpPr/>
          <p:nvPr/>
        </p:nvSpPr>
        <p:spPr>
          <a:xfrm>
            <a:off x="8092440" y="1828800"/>
            <a:ext cx="3520440" cy="2011680"/>
          </a:xfrm>
          <a:prstGeom prst="roundRect">
            <a:avLst>
              <a:gd name="adj" fmla="val 3636"/>
            </a:avLst>
          </a:prstGeom>
          <a:solidFill>
            <a:srgbClr val="F5EFE2"/>
          </a:solidFill>
          <a:ln w="12700">
            <a:solidFill>
              <a:srgbClr val="D9D2C0"/>
            </a:solidFill>
            <a:prstDash val="solid"/>
          </a:ln>
        </p:spPr>
      </p:sp>
      <p:sp>
        <p:nvSpPr>
          <p:cNvPr id="18" name="Shape 16"/>
          <p:cNvSpPr/>
          <p:nvPr/>
        </p:nvSpPr>
        <p:spPr>
          <a:xfrm>
            <a:off x="8275320" y="2011680"/>
            <a:ext cx="640080" cy="365760"/>
          </a:xfrm>
          <a:prstGeom prst="roundRect">
            <a:avLst>
              <a:gd name="adj" fmla="val 15000"/>
            </a:avLst>
          </a:prstGeom>
          <a:solidFill>
            <a:srgbClr val="3B5D3A"/>
          </a:solidFill>
          <a:ln/>
        </p:spPr>
      </p:sp>
      <p:sp>
        <p:nvSpPr>
          <p:cNvPr id="19" name="Text 17"/>
          <p:cNvSpPr/>
          <p:nvPr/>
        </p:nvSpPr>
        <p:spPr>
          <a:xfrm>
            <a:off x="8275320" y="2057400"/>
            <a:ext cx="64008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UZ</a:t>
            </a:r>
            <a:endParaRPr lang="en-US" sz="1300" dirty="0"/>
          </a:p>
        </p:txBody>
      </p:sp>
      <p:sp>
        <p:nvSpPr>
          <p:cNvPr id="20" name="Text 18"/>
          <p:cNvSpPr/>
          <p:nvPr/>
        </p:nvSpPr>
        <p:spPr>
          <a:xfrm>
            <a:off x="9052560" y="2057400"/>
            <a:ext cx="2286000" cy="320040"/>
          </a:xfrm>
          <a:prstGeom prst="rect">
            <a:avLst/>
          </a:prstGeom>
          <a:noFill/>
          <a:ln/>
        </p:spPr>
        <p:txBody>
          <a:bodyPr wrap="square" lIns="0" tIns="0" rIns="0" bIns="0" rtlCol="0" anchor="ctr"/>
          <a:lstStyle/>
          <a:p>
            <a:pPr marL="0" indent="0">
              <a:buNone/>
            </a:pPr>
            <a:r>
              <a:rPr lang="en-US" sz="1500" dirty="0">
                <a:solidFill>
                  <a:srgbClr val="1B2420"/>
                </a:solidFill>
                <a:latin typeface="Georgia" pitchFamily="34" charset="0"/>
                <a:ea typeface="Georgia" pitchFamily="34" charset="-122"/>
                <a:cs typeface="Georgia" pitchFamily="34" charset="-120"/>
              </a:rPr>
              <a:t>Unsaturated Zone</a:t>
            </a:r>
            <a:endParaRPr lang="en-US" sz="1500" dirty="0"/>
          </a:p>
        </p:txBody>
      </p:sp>
      <p:sp>
        <p:nvSpPr>
          <p:cNvPr id="21" name="Text 19"/>
          <p:cNvSpPr/>
          <p:nvPr/>
        </p:nvSpPr>
        <p:spPr>
          <a:xfrm>
            <a:off x="8321040" y="2560320"/>
            <a:ext cx="3108960" cy="1097280"/>
          </a:xfrm>
          <a:prstGeom prst="rect">
            <a:avLst/>
          </a:prstGeom>
          <a:noFill/>
          <a:ln/>
        </p:spPr>
        <p:txBody>
          <a:bodyPr wrap="square" lIns="0" tIns="0" rIns="0" bIns="0" rtlCol="0" anchor="ctr"/>
          <a:lstStyle/>
          <a:p>
            <a:pPr marL="0" indent="0">
              <a:buNone/>
            </a:pPr>
            <a:r>
              <a:rPr lang="en-US" sz="1300" dirty="0">
                <a:solidFill>
                  <a:srgbClr val="3B3F3A"/>
                </a:solidFill>
                <a:latin typeface="Calibri" pitchFamily="34" charset="0"/>
                <a:ea typeface="Calibri" pitchFamily="34" charset="-122"/>
                <a:cs typeface="Calibri" pitchFamily="34" charset="-120"/>
              </a:rPr>
              <a:t>Vertical infiltration &amp; soil moisture (Richards equation, gravity flow or two-layer water balance).</a:t>
            </a:r>
            <a:endParaRPr lang="en-US" sz="1300" dirty="0"/>
          </a:p>
        </p:txBody>
      </p:sp>
      <p:sp>
        <p:nvSpPr>
          <p:cNvPr id="22" name="Shape 20"/>
          <p:cNvSpPr/>
          <p:nvPr/>
        </p:nvSpPr>
        <p:spPr>
          <a:xfrm>
            <a:off x="685800" y="4023360"/>
            <a:ext cx="3520440" cy="2011680"/>
          </a:xfrm>
          <a:prstGeom prst="roundRect">
            <a:avLst>
              <a:gd name="adj" fmla="val 3636"/>
            </a:avLst>
          </a:prstGeom>
          <a:solidFill>
            <a:srgbClr val="F5EFE2"/>
          </a:solidFill>
          <a:ln w="12700">
            <a:solidFill>
              <a:srgbClr val="D9D2C0"/>
            </a:solidFill>
            <a:prstDash val="solid"/>
          </a:ln>
        </p:spPr>
      </p:sp>
      <p:sp>
        <p:nvSpPr>
          <p:cNvPr id="23" name="Shape 21"/>
          <p:cNvSpPr/>
          <p:nvPr/>
        </p:nvSpPr>
        <p:spPr>
          <a:xfrm>
            <a:off x="868680" y="4206240"/>
            <a:ext cx="640080" cy="365760"/>
          </a:xfrm>
          <a:prstGeom prst="roundRect">
            <a:avLst>
              <a:gd name="adj" fmla="val 15000"/>
            </a:avLst>
          </a:prstGeom>
          <a:solidFill>
            <a:srgbClr val="3B5D3A"/>
          </a:solidFill>
          <a:ln/>
        </p:spPr>
      </p:sp>
      <p:sp>
        <p:nvSpPr>
          <p:cNvPr id="24" name="Text 22"/>
          <p:cNvSpPr/>
          <p:nvPr/>
        </p:nvSpPr>
        <p:spPr>
          <a:xfrm>
            <a:off x="868680" y="4251960"/>
            <a:ext cx="64008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SZ</a:t>
            </a:r>
            <a:endParaRPr lang="en-US" sz="1300" dirty="0"/>
          </a:p>
        </p:txBody>
      </p:sp>
      <p:sp>
        <p:nvSpPr>
          <p:cNvPr id="25" name="Text 23"/>
          <p:cNvSpPr/>
          <p:nvPr/>
        </p:nvSpPr>
        <p:spPr>
          <a:xfrm>
            <a:off x="1645920" y="4251960"/>
            <a:ext cx="2286000" cy="320040"/>
          </a:xfrm>
          <a:prstGeom prst="rect">
            <a:avLst/>
          </a:prstGeom>
          <a:noFill/>
          <a:ln/>
        </p:spPr>
        <p:txBody>
          <a:bodyPr wrap="square" lIns="0" tIns="0" rIns="0" bIns="0" rtlCol="0" anchor="ctr"/>
          <a:lstStyle/>
          <a:p>
            <a:pPr marL="0" indent="0">
              <a:buNone/>
            </a:pPr>
            <a:r>
              <a:rPr lang="en-US" sz="1500" dirty="0">
                <a:solidFill>
                  <a:srgbClr val="1B2420"/>
                </a:solidFill>
                <a:latin typeface="Georgia" pitchFamily="34" charset="0"/>
                <a:ea typeface="Georgia" pitchFamily="34" charset="-122"/>
                <a:cs typeface="Georgia" pitchFamily="34" charset="-120"/>
              </a:rPr>
              <a:t>Saturated Zone</a:t>
            </a:r>
            <a:endParaRPr lang="en-US" sz="1500" dirty="0"/>
          </a:p>
        </p:txBody>
      </p:sp>
      <p:sp>
        <p:nvSpPr>
          <p:cNvPr id="26" name="Text 24"/>
          <p:cNvSpPr/>
          <p:nvPr/>
        </p:nvSpPr>
        <p:spPr>
          <a:xfrm>
            <a:off x="914400" y="4754880"/>
            <a:ext cx="3108960" cy="1097280"/>
          </a:xfrm>
          <a:prstGeom prst="rect">
            <a:avLst/>
          </a:prstGeom>
          <a:noFill/>
          <a:ln/>
        </p:spPr>
        <p:txBody>
          <a:bodyPr wrap="square" lIns="0" tIns="0" rIns="0" bIns="0" rtlCol="0" anchor="ctr"/>
          <a:lstStyle/>
          <a:p>
            <a:pPr marL="0" indent="0">
              <a:buNone/>
            </a:pPr>
            <a:r>
              <a:rPr lang="en-US" sz="1300" dirty="0">
                <a:solidFill>
                  <a:srgbClr val="3B3F3A"/>
                </a:solidFill>
                <a:latin typeface="Calibri" pitchFamily="34" charset="0"/>
                <a:ea typeface="Calibri" pitchFamily="34" charset="-122"/>
                <a:cs typeface="Calibri" pitchFamily="34" charset="-120"/>
              </a:rPr>
              <a:t>3-D or 2-D groundwater flow using Darcy’s law; multi-layer aquifers.</a:t>
            </a:r>
            <a:endParaRPr lang="en-US" sz="1300" dirty="0"/>
          </a:p>
        </p:txBody>
      </p:sp>
      <p:sp>
        <p:nvSpPr>
          <p:cNvPr id="27" name="Shape 25"/>
          <p:cNvSpPr/>
          <p:nvPr/>
        </p:nvSpPr>
        <p:spPr>
          <a:xfrm>
            <a:off x="4389120" y="4023360"/>
            <a:ext cx="3520440" cy="2011680"/>
          </a:xfrm>
          <a:prstGeom prst="roundRect">
            <a:avLst>
              <a:gd name="adj" fmla="val 3636"/>
            </a:avLst>
          </a:prstGeom>
          <a:solidFill>
            <a:srgbClr val="F5EFE2"/>
          </a:solidFill>
          <a:ln w="12700">
            <a:solidFill>
              <a:srgbClr val="D9D2C0"/>
            </a:solidFill>
            <a:prstDash val="solid"/>
          </a:ln>
        </p:spPr>
      </p:sp>
      <p:sp>
        <p:nvSpPr>
          <p:cNvPr id="28" name="Shape 26"/>
          <p:cNvSpPr/>
          <p:nvPr/>
        </p:nvSpPr>
        <p:spPr>
          <a:xfrm>
            <a:off x="4572000" y="4206240"/>
            <a:ext cx="640080" cy="365760"/>
          </a:xfrm>
          <a:prstGeom prst="roundRect">
            <a:avLst>
              <a:gd name="adj" fmla="val 15000"/>
            </a:avLst>
          </a:prstGeom>
          <a:solidFill>
            <a:srgbClr val="3B5D3A"/>
          </a:solidFill>
          <a:ln/>
        </p:spPr>
      </p:sp>
      <p:sp>
        <p:nvSpPr>
          <p:cNvPr id="29" name="Text 27"/>
          <p:cNvSpPr/>
          <p:nvPr/>
        </p:nvSpPr>
        <p:spPr>
          <a:xfrm>
            <a:off x="4572000" y="4251960"/>
            <a:ext cx="64008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SM</a:t>
            </a:r>
            <a:endParaRPr lang="en-US" sz="1300" dirty="0"/>
          </a:p>
        </p:txBody>
      </p:sp>
      <p:sp>
        <p:nvSpPr>
          <p:cNvPr id="30" name="Text 28"/>
          <p:cNvSpPr/>
          <p:nvPr/>
        </p:nvSpPr>
        <p:spPr>
          <a:xfrm>
            <a:off x="5349240" y="4251960"/>
            <a:ext cx="2286000" cy="320040"/>
          </a:xfrm>
          <a:prstGeom prst="rect">
            <a:avLst/>
          </a:prstGeom>
          <a:noFill/>
          <a:ln/>
        </p:spPr>
        <p:txBody>
          <a:bodyPr wrap="square" lIns="0" tIns="0" rIns="0" bIns="0" rtlCol="0" anchor="ctr"/>
          <a:lstStyle/>
          <a:p>
            <a:pPr marL="0" indent="0">
              <a:buNone/>
            </a:pPr>
            <a:r>
              <a:rPr lang="en-US" sz="1500" dirty="0">
                <a:solidFill>
                  <a:srgbClr val="1B2420"/>
                </a:solidFill>
                <a:latin typeface="Georgia" pitchFamily="34" charset="0"/>
                <a:ea typeface="Georgia" pitchFamily="34" charset="-122"/>
                <a:cs typeface="Georgia" pitchFamily="34" charset="-120"/>
              </a:rPr>
              <a:t>Snow Melt</a:t>
            </a:r>
            <a:endParaRPr lang="en-US" sz="1500" dirty="0"/>
          </a:p>
        </p:txBody>
      </p:sp>
      <p:sp>
        <p:nvSpPr>
          <p:cNvPr id="31" name="Text 29"/>
          <p:cNvSpPr/>
          <p:nvPr/>
        </p:nvSpPr>
        <p:spPr>
          <a:xfrm>
            <a:off x="4617720" y="4754880"/>
            <a:ext cx="3108960" cy="1097280"/>
          </a:xfrm>
          <a:prstGeom prst="rect">
            <a:avLst/>
          </a:prstGeom>
          <a:noFill/>
          <a:ln/>
        </p:spPr>
        <p:txBody>
          <a:bodyPr wrap="square" lIns="0" tIns="0" rIns="0" bIns="0" rtlCol="0" anchor="ctr"/>
          <a:lstStyle/>
          <a:p>
            <a:pPr marL="0" indent="0">
              <a:buNone/>
            </a:pPr>
            <a:r>
              <a:rPr lang="en-US" sz="1300" dirty="0">
                <a:solidFill>
                  <a:srgbClr val="3B3F3A"/>
                </a:solidFill>
                <a:latin typeface="Calibri" pitchFamily="34" charset="0"/>
                <a:ea typeface="Calibri" pitchFamily="34" charset="-122"/>
                <a:cs typeface="Calibri" pitchFamily="34" charset="-120"/>
              </a:rPr>
              <a:t>Degree-day or energy-balance snow accumulation and melt processes.</a:t>
            </a:r>
            <a:endParaRPr lang="en-US" sz="1300" dirty="0"/>
          </a:p>
        </p:txBody>
      </p:sp>
      <p:sp>
        <p:nvSpPr>
          <p:cNvPr id="32" name="Shape 30"/>
          <p:cNvSpPr/>
          <p:nvPr/>
        </p:nvSpPr>
        <p:spPr>
          <a:xfrm>
            <a:off x="8092440" y="4023360"/>
            <a:ext cx="3520440" cy="2011680"/>
          </a:xfrm>
          <a:prstGeom prst="roundRect">
            <a:avLst>
              <a:gd name="adj" fmla="val 3636"/>
            </a:avLst>
          </a:prstGeom>
          <a:solidFill>
            <a:srgbClr val="F5EFE2"/>
          </a:solidFill>
          <a:ln w="12700">
            <a:solidFill>
              <a:srgbClr val="D9D2C0"/>
            </a:solidFill>
            <a:prstDash val="solid"/>
          </a:ln>
        </p:spPr>
      </p:sp>
      <p:sp>
        <p:nvSpPr>
          <p:cNvPr id="33" name="Shape 31"/>
          <p:cNvSpPr/>
          <p:nvPr/>
        </p:nvSpPr>
        <p:spPr>
          <a:xfrm>
            <a:off x="8275320" y="4206240"/>
            <a:ext cx="640080" cy="365760"/>
          </a:xfrm>
          <a:prstGeom prst="roundRect">
            <a:avLst>
              <a:gd name="adj" fmla="val 15000"/>
            </a:avLst>
          </a:prstGeom>
          <a:solidFill>
            <a:srgbClr val="3B5D3A"/>
          </a:solidFill>
          <a:ln/>
        </p:spPr>
      </p:sp>
      <p:sp>
        <p:nvSpPr>
          <p:cNvPr id="34" name="Text 32"/>
          <p:cNvSpPr/>
          <p:nvPr/>
        </p:nvSpPr>
        <p:spPr>
          <a:xfrm>
            <a:off x="8275320" y="4251960"/>
            <a:ext cx="64008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a:t>
            </a:r>
            <a:endParaRPr lang="en-US" sz="1300" dirty="0"/>
          </a:p>
        </p:txBody>
      </p:sp>
      <p:sp>
        <p:nvSpPr>
          <p:cNvPr id="35" name="Text 33"/>
          <p:cNvSpPr/>
          <p:nvPr/>
        </p:nvSpPr>
        <p:spPr>
          <a:xfrm>
            <a:off x="9052560" y="4251960"/>
            <a:ext cx="2286000" cy="320040"/>
          </a:xfrm>
          <a:prstGeom prst="rect">
            <a:avLst/>
          </a:prstGeom>
          <a:noFill/>
          <a:ln/>
        </p:spPr>
        <p:txBody>
          <a:bodyPr wrap="square" lIns="0" tIns="0" rIns="0" bIns="0" rtlCol="0" anchor="ctr"/>
          <a:lstStyle/>
          <a:p>
            <a:pPr marL="0" indent="0">
              <a:buNone/>
            </a:pPr>
            <a:r>
              <a:rPr lang="en-US" sz="1500" dirty="0">
                <a:solidFill>
                  <a:srgbClr val="1B2420"/>
                </a:solidFill>
                <a:latin typeface="Georgia" pitchFamily="34" charset="0"/>
                <a:ea typeface="Georgia" pitchFamily="34" charset="-122"/>
                <a:cs typeface="Georgia" pitchFamily="34" charset="-120"/>
              </a:rPr>
              <a:t>Exchange</a:t>
            </a:r>
            <a:endParaRPr lang="en-US" sz="1500" dirty="0"/>
          </a:p>
        </p:txBody>
      </p:sp>
      <p:sp>
        <p:nvSpPr>
          <p:cNvPr id="36" name="Text 34"/>
          <p:cNvSpPr/>
          <p:nvPr/>
        </p:nvSpPr>
        <p:spPr>
          <a:xfrm>
            <a:off x="8321040" y="4754880"/>
            <a:ext cx="3108960" cy="1097280"/>
          </a:xfrm>
          <a:prstGeom prst="rect">
            <a:avLst/>
          </a:prstGeom>
          <a:noFill/>
          <a:ln/>
        </p:spPr>
        <p:txBody>
          <a:bodyPr wrap="square" lIns="0" tIns="0" rIns="0" bIns="0" rtlCol="0" anchor="ctr"/>
          <a:lstStyle/>
          <a:p>
            <a:pPr marL="0" indent="0">
              <a:buNone/>
            </a:pPr>
            <a:r>
              <a:rPr lang="en-US" sz="1300" dirty="0">
                <a:solidFill>
                  <a:srgbClr val="3B3F3A"/>
                </a:solidFill>
                <a:latin typeface="Calibri" pitchFamily="34" charset="0"/>
                <a:ea typeface="Calibri" pitchFamily="34" charset="-122"/>
                <a:cs typeface="Calibri" pitchFamily="34" charset="-120"/>
              </a:rPr>
              <a:t>Dynamic exchange between aquifers and river systems (baseflow, bank storage).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73152"/>
            <a:ext cx="11704320" cy="320040"/>
          </a:xfrm>
          <a:prstGeom prst="rect">
            <a:avLst/>
          </a:prstGeom>
          <a:noFill/>
        </p:spPr>
        <p:txBody>
          <a:bodyPr wrap="none">
            <a:spAutoFit/>
          </a:bodyPr>
          <a:lstStyle/>
          <a:p>
            <a:pPr>
              <a:defRPr sz="1700" b="0">
                <a:latin typeface="Times New Roman"/>
              </a:defRPr>
            </a:pPr>
            <a:r>
              <a:t>Selected literature references for application areas of MIKE SHE</a:t>
            </a:r>
          </a:p>
        </p:txBody>
      </p:sp>
      <p:graphicFrame>
        <p:nvGraphicFramePr>
          <p:cNvPr id="3" name="Table 2"/>
          <p:cNvGraphicFramePr>
            <a:graphicFrameLocks noGrp="1"/>
          </p:cNvGraphicFramePr>
          <p:nvPr/>
        </p:nvGraphicFramePr>
        <p:xfrm>
          <a:off x="228600" y="411481"/>
          <a:ext cx="8544697" cy="6446522"/>
        </p:xfrm>
        <a:graphic>
          <a:graphicData uri="http://schemas.openxmlformats.org/drawingml/2006/table">
            <a:tbl>
              <a:tblPr firstRow="1" bandRow="1">
                <a:tableStyleId>{B301B821-A1FF-4177-AEE7-76D212191A09}</a:tableStyleId>
              </a:tblPr>
              <a:tblGrid>
                <a:gridCol w="2797173">
                  <a:extLst>
                    <a:ext uri="{9D8B030D-6E8A-4147-A177-3AD203B41FA5}">
                      <a16:colId xmlns:a16="http://schemas.microsoft.com/office/drawing/2014/main" val="20000"/>
                    </a:ext>
                  </a:extLst>
                </a:gridCol>
                <a:gridCol w="5747524">
                  <a:extLst>
                    <a:ext uri="{9D8B030D-6E8A-4147-A177-3AD203B41FA5}">
                      <a16:colId xmlns:a16="http://schemas.microsoft.com/office/drawing/2014/main" val="20001"/>
                    </a:ext>
                  </a:extLst>
                </a:gridCol>
              </a:tblGrid>
              <a:tr h="310022">
                <a:tc>
                  <a:txBody>
                    <a:bodyPr/>
                    <a:lstStyle/>
                    <a:p>
                      <a:pPr>
                        <a:defRPr sz="1400" b="1">
                          <a:latin typeface="Times New Roman"/>
                        </a:defRPr>
                      </a:pPr>
                      <a:r>
                        <a:t>Application areas</a:t>
                      </a:r>
                    </a:p>
                  </a:txBody>
                  <a:tcPr/>
                </a:tc>
                <a:tc>
                  <a:txBody>
                    <a:bodyPr/>
                    <a:lstStyle/>
                    <a:p>
                      <a:pPr>
                        <a:defRPr sz="1400" b="1">
                          <a:latin typeface="Times New Roman"/>
                        </a:defRPr>
                      </a:pPr>
                      <a:r>
                        <a:t>References</a:t>
                      </a:r>
                    </a:p>
                  </a:txBody>
                  <a:tcPr/>
                </a:tc>
                <a:extLst>
                  <a:ext uri="{0D108BD9-81ED-4DB2-BD59-A6C34878D82A}">
                    <a16:rowId xmlns:a16="http://schemas.microsoft.com/office/drawing/2014/main" val="10000"/>
                  </a:ext>
                </a:extLst>
              </a:tr>
              <a:tr h="523607">
                <a:tc>
                  <a:txBody>
                    <a:bodyPr/>
                    <a:lstStyle/>
                    <a:p>
                      <a:pPr algn="l">
                        <a:defRPr sz="919" b="0">
                          <a:latin typeface="Times New Roman"/>
                        </a:defRPr>
                      </a:pPr>
                      <a:r>
                        <a:rPr dirty="0"/>
                        <a:t>General MIKE SHE References</a:t>
                      </a:r>
                    </a:p>
                    <a:p>
                      <a:pPr algn="l">
                        <a:defRPr sz="919" b="0">
                          <a:latin typeface="Times New Roman"/>
                        </a:defRPr>
                      </a:pPr>
                      <a:r>
                        <a:rPr dirty="0"/>
                        <a:t>(Distributed hydrologic</a:t>
                      </a:r>
                    </a:p>
                    <a:p>
                      <a:pPr algn="l">
                        <a:defRPr sz="919" b="0">
                          <a:latin typeface="Times New Roman"/>
                        </a:defRPr>
                      </a:pPr>
                      <a:r>
                        <a:rPr dirty="0"/>
                        <a:t>modeling and applications)</a:t>
                      </a:r>
                    </a:p>
                  </a:txBody>
                  <a:tcPr/>
                </a:tc>
                <a:tc>
                  <a:txBody>
                    <a:bodyPr/>
                    <a:lstStyle/>
                    <a:p>
                      <a:pPr algn="l">
                        <a:defRPr sz="919" b="0">
                          <a:latin typeface="Times New Roman"/>
                        </a:defRPr>
                      </a:pPr>
                      <a:r>
                        <a:t>Abbott &amp; Refsgaard (1996), Abbott et al. (1986 a &amp; b),</a:t>
                      </a:r>
                    </a:p>
                    <a:p>
                      <a:pPr algn="l">
                        <a:defRPr sz="919" b="0">
                          <a:latin typeface="Times New Roman"/>
                        </a:defRPr>
                      </a:pPr>
                      <a:r>
                        <a:t>Havnø et al. (1995), Refsgaard et al. (1998),</a:t>
                      </a:r>
                    </a:p>
                    <a:p>
                      <a:pPr algn="l">
                        <a:defRPr sz="919" b="0">
                          <a:latin typeface="Times New Roman"/>
                        </a:defRPr>
                      </a:pPr>
                      <a:r>
                        <a:t>Refsgaard &amp; Storm (1995), Storm &amp; Refsgaard (1996)</a:t>
                      </a:r>
                    </a:p>
                  </a:txBody>
                  <a:tcPr/>
                </a:tc>
                <a:extLst>
                  <a:ext uri="{0D108BD9-81ED-4DB2-BD59-A6C34878D82A}">
                    <a16:rowId xmlns:a16="http://schemas.microsoft.com/office/drawing/2014/main" val="10001"/>
                  </a:ext>
                </a:extLst>
              </a:tr>
              <a:tr h="698144">
                <a:tc>
                  <a:txBody>
                    <a:bodyPr/>
                    <a:lstStyle/>
                    <a:p>
                      <a:pPr algn="l">
                        <a:defRPr sz="919" b="0">
                          <a:latin typeface="Times New Roman"/>
                        </a:defRPr>
                      </a:pPr>
                      <a:r>
                        <a:t>River Basin Management and</a:t>
                      </a:r>
                    </a:p>
                    <a:p>
                      <a:pPr algn="l">
                        <a:defRPr sz="919" b="0">
                          <a:latin typeface="Times New Roman"/>
                        </a:defRPr>
                      </a:pPr>
                      <a:r>
                        <a:t>Modeling</a:t>
                      </a:r>
                    </a:p>
                  </a:txBody>
                  <a:tcPr/>
                </a:tc>
                <a:tc>
                  <a:txBody>
                    <a:bodyPr/>
                    <a:lstStyle/>
                    <a:p>
                      <a:pPr algn="l">
                        <a:defRPr sz="919" b="0">
                          <a:latin typeface="Times New Roman"/>
                        </a:defRPr>
                      </a:pPr>
                      <a:r>
                        <a:t>Andersen et al. (2001), Christensen (2004),</a:t>
                      </a:r>
                    </a:p>
                    <a:p>
                      <a:pPr algn="l">
                        <a:defRPr sz="919" b="0">
                          <a:latin typeface="Times New Roman"/>
                        </a:defRPr>
                      </a:pPr>
                      <a:r>
                        <a:t>Henriksen et al. (2003), Jain et al. (1992), Jensen et al. (2002),</a:t>
                      </a:r>
                    </a:p>
                    <a:p>
                      <a:pPr algn="l">
                        <a:defRPr sz="919" b="0">
                          <a:latin typeface="Times New Roman"/>
                        </a:defRPr>
                      </a:pPr>
                      <a:r>
                        <a:t>Refsgaard &amp; Sørensen (1994), Refsgaard et al. (2003, 1998, 1992),</a:t>
                      </a:r>
                    </a:p>
                    <a:p>
                      <a:pPr algn="l">
                        <a:defRPr sz="919" b="0">
                          <a:latin typeface="Times New Roman"/>
                        </a:defRPr>
                      </a:pPr>
                      <a:r>
                        <a:t>Sandholt et al. (1999), Vazquez (2003)</a:t>
                      </a:r>
                    </a:p>
                  </a:txBody>
                  <a:tcPr/>
                </a:tc>
                <a:extLst>
                  <a:ext uri="{0D108BD9-81ED-4DB2-BD59-A6C34878D82A}">
                    <a16:rowId xmlns:a16="http://schemas.microsoft.com/office/drawing/2014/main" val="10002"/>
                  </a:ext>
                </a:extLst>
              </a:tr>
              <a:tr h="377969">
                <a:tc>
                  <a:txBody>
                    <a:bodyPr/>
                    <a:lstStyle/>
                    <a:p>
                      <a:pPr algn="l">
                        <a:defRPr sz="919" b="0">
                          <a:latin typeface="Times New Roman"/>
                        </a:defRPr>
                      </a:pPr>
                      <a:r>
                        <a:t>Integrated Surface Water and</a:t>
                      </a:r>
                    </a:p>
                    <a:p>
                      <a:pPr algn="l">
                        <a:defRPr sz="919" b="0">
                          <a:latin typeface="Times New Roman"/>
                        </a:defRPr>
                      </a:pPr>
                      <a:r>
                        <a:t>Groundwater</a:t>
                      </a:r>
                    </a:p>
                  </a:txBody>
                  <a:tcPr/>
                </a:tc>
                <a:tc>
                  <a:txBody>
                    <a:bodyPr/>
                    <a:lstStyle/>
                    <a:p>
                      <a:pPr algn="l">
                        <a:defRPr sz="919" b="0">
                          <a:latin typeface="Times New Roman"/>
                        </a:defRPr>
                      </a:pPr>
                      <a:r>
                        <a:t>Graham &amp; Refsgaard (2001), Kaiser-Hill (2001),</a:t>
                      </a:r>
                    </a:p>
                    <a:p>
                      <a:pPr algn="l">
                        <a:defRPr sz="919" b="0">
                          <a:latin typeface="Times New Roman"/>
                        </a:defRPr>
                      </a:pPr>
                      <a:r>
                        <a:t>Olesen et al. (2000), Refsgaard et al. (1998), Sørensen et al. (1996)</a:t>
                      </a:r>
                    </a:p>
                  </a:txBody>
                  <a:tcPr/>
                </a:tc>
                <a:extLst>
                  <a:ext uri="{0D108BD9-81ED-4DB2-BD59-A6C34878D82A}">
                    <a16:rowId xmlns:a16="http://schemas.microsoft.com/office/drawing/2014/main" val="10003"/>
                  </a:ext>
                </a:extLst>
              </a:tr>
              <a:tr h="377969">
                <a:tc>
                  <a:txBody>
                    <a:bodyPr/>
                    <a:lstStyle/>
                    <a:p>
                      <a:pPr algn="l">
                        <a:defRPr sz="919" b="0">
                          <a:latin typeface="Times New Roman"/>
                        </a:defRPr>
                      </a:pPr>
                      <a:r>
                        <a:t>Groundwater Modeling</a:t>
                      </a:r>
                    </a:p>
                  </a:txBody>
                  <a:tcPr/>
                </a:tc>
                <a:tc>
                  <a:txBody>
                    <a:bodyPr/>
                    <a:lstStyle/>
                    <a:p>
                      <a:pPr algn="l">
                        <a:defRPr sz="919" b="0">
                          <a:latin typeface="Times New Roman"/>
                        </a:defRPr>
                      </a:pPr>
                      <a:r>
                        <a:t>Christiansen and Feyen (2001, 2002), Madsen &amp; Kristensen (2002),</a:t>
                      </a:r>
                    </a:p>
                    <a:p>
                      <a:pPr algn="l">
                        <a:defRPr sz="919" b="0">
                          <a:latin typeface="Times New Roman"/>
                        </a:defRPr>
                      </a:pPr>
                      <a:r>
                        <a:t>Sonnenborg et al. (2003), Refsgaard et al. (1998)</a:t>
                      </a:r>
                    </a:p>
                  </a:txBody>
                  <a:tcPr/>
                </a:tc>
                <a:extLst>
                  <a:ext uri="{0D108BD9-81ED-4DB2-BD59-A6C34878D82A}">
                    <a16:rowId xmlns:a16="http://schemas.microsoft.com/office/drawing/2014/main" val="10004"/>
                  </a:ext>
                </a:extLst>
              </a:tr>
              <a:tr h="698144">
                <a:tc>
                  <a:txBody>
                    <a:bodyPr/>
                    <a:lstStyle/>
                    <a:p>
                      <a:pPr algn="l">
                        <a:defRPr sz="919" b="0">
                          <a:latin typeface="Times New Roman"/>
                        </a:defRPr>
                      </a:pPr>
                      <a:r>
                        <a:rPr dirty="0"/>
                        <a:t>Groundwater Pollution,</a:t>
                      </a:r>
                    </a:p>
                    <a:p>
                      <a:pPr algn="l">
                        <a:defRPr sz="919" b="0">
                          <a:latin typeface="Times New Roman"/>
                        </a:defRPr>
                      </a:pPr>
                      <a:r>
                        <a:rPr dirty="0"/>
                        <a:t>Remediation and Water Quality</a:t>
                      </a:r>
                    </a:p>
                    <a:p>
                      <a:pPr algn="l">
                        <a:defRPr sz="919" b="0">
                          <a:latin typeface="Times New Roman"/>
                        </a:defRPr>
                      </a:pPr>
                      <a:r>
                        <a:rPr dirty="0"/>
                        <a:t>Modeling</a:t>
                      </a:r>
                    </a:p>
                  </a:txBody>
                  <a:tcPr/>
                </a:tc>
                <a:tc>
                  <a:txBody>
                    <a:bodyPr/>
                    <a:lstStyle/>
                    <a:p>
                      <a:pPr algn="l">
                        <a:defRPr sz="919" b="0">
                          <a:latin typeface="Times New Roman"/>
                        </a:defRPr>
                      </a:pPr>
                      <a:r>
                        <a:t>Brun and Engesgaard (2002), Brun et al. (2002),</a:t>
                      </a:r>
                    </a:p>
                    <a:p>
                      <a:pPr algn="l">
                        <a:defRPr sz="919" b="0">
                          <a:latin typeface="Times New Roman"/>
                        </a:defRPr>
                      </a:pPr>
                      <a:r>
                        <a:t>Christiansen et al. (2004), Hansen et al. (2001),</a:t>
                      </a:r>
                    </a:p>
                    <a:p>
                      <a:pPr algn="l">
                        <a:defRPr sz="919" b="0">
                          <a:latin typeface="Times New Roman"/>
                        </a:defRPr>
                      </a:pPr>
                      <a:r>
                        <a:t>Refsgaard et al. (1999, 1998), Sørensen and Refsgaard (2001),</a:t>
                      </a:r>
                    </a:p>
                    <a:p>
                      <a:pPr algn="l">
                        <a:defRPr sz="919" b="0">
                          <a:latin typeface="Times New Roman"/>
                        </a:defRPr>
                      </a:pPr>
                      <a:r>
                        <a:t>Thorsen et al. (1998)</a:t>
                      </a:r>
                    </a:p>
                  </a:txBody>
                  <a:tcPr/>
                </a:tc>
                <a:extLst>
                  <a:ext uri="{0D108BD9-81ED-4DB2-BD59-A6C34878D82A}">
                    <a16:rowId xmlns:a16="http://schemas.microsoft.com/office/drawing/2014/main" val="10005"/>
                  </a:ext>
                </a:extLst>
              </a:tr>
              <a:tr h="523607">
                <a:tc>
                  <a:txBody>
                    <a:bodyPr/>
                    <a:lstStyle/>
                    <a:p>
                      <a:pPr algn="l">
                        <a:defRPr sz="919" b="0">
                          <a:latin typeface="Times New Roman"/>
                        </a:defRPr>
                      </a:pPr>
                      <a:r>
                        <a:t>Wetlands</a:t>
                      </a:r>
                    </a:p>
                  </a:txBody>
                  <a:tcPr/>
                </a:tc>
                <a:tc>
                  <a:txBody>
                    <a:bodyPr/>
                    <a:lstStyle/>
                    <a:p>
                      <a:pPr algn="l">
                        <a:defRPr sz="919" b="0">
                          <a:latin typeface="Times New Roman"/>
                        </a:defRPr>
                      </a:pPr>
                      <a:r>
                        <a:t>Copp et al. (2004), Jacobsen et al. (1999), Lasarte et al. (2002),</a:t>
                      </a:r>
                    </a:p>
                    <a:p>
                      <a:pPr algn="l">
                        <a:defRPr sz="919" b="0">
                          <a:latin typeface="Times New Roman"/>
                        </a:defRPr>
                      </a:pPr>
                      <a:r>
                        <a:t>Refsgaard et al. (1998, 1994), Refsgaard &amp; Sørensen (1994),</a:t>
                      </a:r>
                    </a:p>
                    <a:p>
                      <a:pPr algn="l">
                        <a:defRPr sz="919" b="0">
                          <a:latin typeface="Times New Roman"/>
                        </a:defRPr>
                      </a:pPr>
                      <a:r>
                        <a:t>Thompson et al. (2004), Yan et al. (1999)</a:t>
                      </a:r>
                    </a:p>
                  </a:txBody>
                  <a:tcPr/>
                </a:tc>
                <a:extLst>
                  <a:ext uri="{0D108BD9-81ED-4DB2-BD59-A6C34878D82A}">
                    <a16:rowId xmlns:a16="http://schemas.microsoft.com/office/drawing/2014/main" val="10006"/>
                  </a:ext>
                </a:extLst>
              </a:tr>
              <a:tr h="377969">
                <a:tc>
                  <a:txBody>
                    <a:bodyPr/>
                    <a:lstStyle/>
                    <a:p>
                      <a:pPr algn="l">
                        <a:defRPr sz="919" b="0">
                          <a:latin typeface="Times New Roman"/>
                        </a:defRPr>
                      </a:pPr>
                      <a:r>
                        <a:t>Soil Erosion Modeling</a:t>
                      </a:r>
                    </a:p>
                  </a:txBody>
                  <a:tcPr/>
                </a:tc>
                <a:tc>
                  <a:txBody>
                    <a:bodyPr/>
                    <a:lstStyle/>
                    <a:p>
                      <a:pPr algn="l">
                        <a:defRPr sz="919" b="0">
                          <a:latin typeface="Times New Roman"/>
                        </a:defRPr>
                      </a:pPr>
                      <a:r>
                        <a:t>Lørup &amp; Styzcen (1996), Morgan et al. (1999, 1998),</a:t>
                      </a:r>
                    </a:p>
                    <a:p>
                      <a:pPr algn="l">
                        <a:defRPr sz="919" b="0">
                          <a:latin typeface="Times New Roman"/>
                        </a:defRPr>
                      </a:pPr>
                      <a:r>
                        <a:t>Nielsen et al. (1996), Storm et al. (1987)</a:t>
                      </a:r>
                    </a:p>
                  </a:txBody>
                  <a:tcPr/>
                </a:tc>
                <a:extLst>
                  <a:ext uri="{0D108BD9-81ED-4DB2-BD59-A6C34878D82A}">
                    <a16:rowId xmlns:a16="http://schemas.microsoft.com/office/drawing/2014/main" val="10007"/>
                  </a:ext>
                </a:extLst>
              </a:tr>
              <a:tr h="377969">
                <a:tc>
                  <a:txBody>
                    <a:bodyPr/>
                    <a:lstStyle/>
                    <a:p>
                      <a:pPr algn="l">
                        <a:defRPr sz="919" b="0">
                          <a:latin typeface="Times New Roman"/>
                        </a:defRPr>
                      </a:pPr>
                      <a:r>
                        <a:t>Agricultural Management</a:t>
                      </a:r>
                    </a:p>
                  </a:txBody>
                  <a:tcPr/>
                </a:tc>
                <a:tc>
                  <a:txBody>
                    <a:bodyPr/>
                    <a:lstStyle/>
                    <a:p>
                      <a:pPr algn="l">
                        <a:defRPr sz="919" b="0">
                          <a:latin typeface="Times New Roman"/>
                        </a:defRPr>
                      </a:pPr>
                      <a:r>
                        <a:t>Boegh et al. (2004), Hansen et al. (2001), Refsgaard et al. (1999),</a:t>
                      </a:r>
                    </a:p>
                    <a:p>
                      <a:pPr algn="l">
                        <a:defRPr sz="919" b="0">
                          <a:latin typeface="Times New Roman"/>
                        </a:defRPr>
                      </a:pPr>
                      <a:r>
                        <a:t>Styzcen &amp; Storm (1993a,b,c), Thorsen et al. (2001, 1998)</a:t>
                      </a:r>
                    </a:p>
                  </a:txBody>
                  <a:tcPr/>
                </a:tc>
                <a:extLst>
                  <a:ext uri="{0D108BD9-81ED-4DB2-BD59-A6C34878D82A}">
                    <a16:rowId xmlns:a16="http://schemas.microsoft.com/office/drawing/2014/main" val="10008"/>
                  </a:ext>
                </a:extLst>
              </a:tr>
              <a:tr h="377969">
                <a:tc>
                  <a:txBody>
                    <a:bodyPr/>
                    <a:lstStyle/>
                    <a:p>
                      <a:pPr algn="l">
                        <a:defRPr sz="919" b="0">
                          <a:latin typeface="Times New Roman"/>
                        </a:defRPr>
                      </a:pPr>
                      <a:r>
                        <a:t>Irrigation</a:t>
                      </a:r>
                    </a:p>
                  </a:txBody>
                  <a:tcPr/>
                </a:tc>
                <a:tc>
                  <a:txBody>
                    <a:bodyPr/>
                    <a:lstStyle/>
                    <a:p>
                      <a:pPr algn="l">
                        <a:defRPr sz="919" b="0">
                          <a:latin typeface="Times New Roman"/>
                        </a:defRPr>
                      </a:pPr>
                      <a:r>
                        <a:t>Carr et al. (1993), Jayatilaka et al. (1998), Lohani et al. (1993),</a:t>
                      </a:r>
                    </a:p>
                    <a:p>
                      <a:pPr algn="l">
                        <a:defRPr sz="919" b="0">
                          <a:latin typeface="Times New Roman"/>
                        </a:defRPr>
                      </a:pPr>
                      <a:r>
                        <a:t>Singh et al. (1999a &amp; b, 1997)</a:t>
                      </a:r>
                    </a:p>
                  </a:txBody>
                  <a:tcPr/>
                </a:tc>
                <a:extLst>
                  <a:ext uri="{0D108BD9-81ED-4DB2-BD59-A6C34878D82A}">
                    <a16:rowId xmlns:a16="http://schemas.microsoft.com/office/drawing/2014/main" val="10009"/>
                  </a:ext>
                </a:extLst>
              </a:tr>
              <a:tr h="377969">
                <a:tc>
                  <a:txBody>
                    <a:bodyPr/>
                    <a:lstStyle/>
                    <a:p>
                      <a:pPr algn="l">
                        <a:defRPr sz="919" b="0">
                          <a:latin typeface="Times New Roman"/>
                        </a:defRPr>
                      </a:pPr>
                      <a:r>
                        <a:rPr dirty="0"/>
                        <a:t>Remote Sensing – Weather</a:t>
                      </a:r>
                    </a:p>
                    <a:p>
                      <a:pPr algn="l">
                        <a:defRPr sz="919" b="0">
                          <a:latin typeface="Times New Roman"/>
                        </a:defRPr>
                      </a:pPr>
                      <a:r>
                        <a:rPr dirty="0"/>
                        <a:t>Radar and Satellite</a:t>
                      </a:r>
                    </a:p>
                  </a:txBody>
                  <a:tcPr/>
                </a:tc>
                <a:tc>
                  <a:txBody>
                    <a:bodyPr/>
                    <a:lstStyle/>
                    <a:p>
                      <a:pPr algn="l">
                        <a:defRPr sz="919" b="0">
                          <a:latin typeface="Times New Roman"/>
                        </a:defRPr>
                      </a:pPr>
                      <a:r>
                        <a:rPr dirty="0"/>
                        <a:t>Andersen et al. (2002a &amp; b), </a:t>
                      </a:r>
                      <a:r>
                        <a:rPr dirty="0" err="1"/>
                        <a:t>Boegh</a:t>
                      </a:r>
                      <a:r>
                        <a:rPr dirty="0"/>
                        <a:t> et al. (2004),</a:t>
                      </a:r>
                    </a:p>
                    <a:p>
                      <a:pPr algn="l">
                        <a:defRPr sz="919" b="0">
                          <a:latin typeface="Times New Roman"/>
                        </a:defRPr>
                      </a:pPr>
                      <a:r>
                        <a:rPr dirty="0"/>
                        <a:t>Butts et al. (2004a &amp; b), </a:t>
                      </a:r>
                      <a:r>
                        <a:rPr dirty="0" err="1"/>
                        <a:t>Sandholt</a:t>
                      </a:r>
                      <a:r>
                        <a:rPr dirty="0"/>
                        <a:t> et al. (2003, 1999)</a:t>
                      </a:r>
                    </a:p>
                  </a:txBody>
                  <a:tcPr/>
                </a:tc>
                <a:extLst>
                  <a:ext uri="{0D108BD9-81ED-4DB2-BD59-A6C34878D82A}">
                    <a16:rowId xmlns:a16="http://schemas.microsoft.com/office/drawing/2014/main" val="10010"/>
                  </a:ext>
                </a:extLst>
              </a:tr>
              <a:tr h="377969">
                <a:tc>
                  <a:txBody>
                    <a:bodyPr/>
                    <a:lstStyle/>
                    <a:p>
                      <a:pPr algn="l">
                        <a:defRPr sz="919" b="0">
                          <a:latin typeface="Times New Roman"/>
                        </a:defRPr>
                      </a:pPr>
                      <a:r>
                        <a:t>Land use change and</a:t>
                      </a:r>
                    </a:p>
                    <a:p>
                      <a:pPr algn="l">
                        <a:defRPr sz="919" b="0">
                          <a:latin typeface="Times New Roman"/>
                        </a:defRPr>
                      </a:pPr>
                      <a:r>
                        <a:t>anthropogenic effects</a:t>
                      </a:r>
                    </a:p>
                  </a:txBody>
                  <a:tcPr/>
                </a:tc>
                <a:tc>
                  <a:txBody>
                    <a:bodyPr/>
                    <a:lstStyle/>
                    <a:p>
                      <a:pPr algn="l">
                        <a:defRPr sz="919" b="0">
                          <a:latin typeface="Times New Roman"/>
                        </a:defRPr>
                      </a:pPr>
                      <a:r>
                        <a:t>Lørup et al. (1998), Refsgaard &amp; Knudsen (1996),</a:t>
                      </a:r>
                    </a:p>
                    <a:p>
                      <a:pPr algn="l">
                        <a:defRPr sz="919" b="0">
                          <a:latin typeface="Times New Roman"/>
                        </a:defRPr>
                      </a:pPr>
                      <a:r>
                        <a:t>Refsgaard &amp; Sørensen (1997, 1994)</a:t>
                      </a:r>
                    </a:p>
                  </a:txBody>
                  <a:tcPr/>
                </a:tc>
                <a:extLst>
                  <a:ext uri="{0D108BD9-81ED-4DB2-BD59-A6C34878D82A}">
                    <a16:rowId xmlns:a16="http://schemas.microsoft.com/office/drawing/2014/main" val="10011"/>
                  </a:ext>
                </a:extLst>
              </a:tr>
              <a:tr h="1047215">
                <a:tc>
                  <a:txBody>
                    <a:bodyPr/>
                    <a:lstStyle/>
                    <a:p>
                      <a:pPr algn="l">
                        <a:defRPr sz="919" b="0">
                          <a:latin typeface="Times New Roman"/>
                        </a:defRPr>
                      </a:pPr>
                      <a:r>
                        <a:t>Model Parameter Estimation,</a:t>
                      </a:r>
                    </a:p>
                    <a:p>
                      <a:pPr algn="l">
                        <a:defRPr sz="919" b="0">
                          <a:latin typeface="Times New Roman"/>
                        </a:defRPr>
                      </a:pPr>
                      <a:r>
                        <a:t>Calibration and Validation</a:t>
                      </a:r>
                    </a:p>
                  </a:txBody>
                  <a:tcPr/>
                </a:tc>
                <a:tc>
                  <a:txBody>
                    <a:bodyPr/>
                    <a:lstStyle/>
                    <a:p>
                      <a:pPr algn="l">
                        <a:defRPr sz="919" b="0">
                          <a:latin typeface="Times New Roman"/>
                        </a:defRPr>
                      </a:pPr>
                      <a:r>
                        <a:rPr dirty="0"/>
                        <a:t>Butts et al. (2004), Christiansen &amp; </a:t>
                      </a:r>
                      <a:r>
                        <a:rPr dirty="0" err="1"/>
                        <a:t>Feyen</a:t>
                      </a:r>
                      <a:r>
                        <a:rPr dirty="0"/>
                        <a:t> (2002a &amp; b, 2001),</a:t>
                      </a:r>
                    </a:p>
                    <a:p>
                      <a:pPr algn="l">
                        <a:defRPr sz="919" b="0">
                          <a:latin typeface="Times New Roman"/>
                        </a:defRPr>
                      </a:pPr>
                      <a:r>
                        <a:rPr dirty="0"/>
                        <a:t>Madsen (2003), Madsen &amp; Kristensen (2002),</a:t>
                      </a:r>
                    </a:p>
                    <a:p>
                      <a:pPr algn="l">
                        <a:defRPr sz="919" b="0">
                          <a:latin typeface="Times New Roman"/>
                        </a:defRPr>
                      </a:pPr>
                      <a:r>
                        <a:rPr dirty="0"/>
                        <a:t>Mertens et al. (2004), </a:t>
                      </a:r>
                      <a:r>
                        <a:rPr dirty="0" err="1"/>
                        <a:t>Sonnenborg</a:t>
                      </a:r>
                      <a:r>
                        <a:rPr dirty="0"/>
                        <a:t> et al. (2003),</a:t>
                      </a:r>
                    </a:p>
                    <a:p>
                      <a:pPr algn="l">
                        <a:defRPr sz="919" b="0">
                          <a:latin typeface="Times New Roman"/>
                        </a:defRPr>
                      </a:pPr>
                      <a:r>
                        <a:rPr dirty="0" err="1"/>
                        <a:t>Refsgaard</a:t>
                      </a:r>
                      <a:r>
                        <a:rPr dirty="0"/>
                        <a:t> (2001a &amp; b, 1997a &amp; b), </a:t>
                      </a:r>
                      <a:r>
                        <a:rPr dirty="0" err="1"/>
                        <a:t>Refsgaard</a:t>
                      </a:r>
                      <a:r>
                        <a:rPr dirty="0"/>
                        <a:t> et al. (1998),</a:t>
                      </a:r>
                    </a:p>
                    <a:p>
                      <a:pPr algn="l">
                        <a:defRPr sz="919" b="0">
                          <a:latin typeface="Times New Roman"/>
                        </a:defRPr>
                      </a:pPr>
                      <a:r>
                        <a:rPr dirty="0" err="1"/>
                        <a:t>Refsgaard</a:t>
                      </a:r>
                      <a:r>
                        <a:rPr dirty="0"/>
                        <a:t> &amp; Butts (1999), </a:t>
                      </a:r>
                      <a:r>
                        <a:rPr dirty="0" err="1"/>
                        <a:t>Refsgaard</a:t>
                      </a:r>
                      <a:r>
                        <a:rPr dirty="0"/>
                        <a:t> &amp; Knudsen (1996),</a:t>
                      </a:r>
                    </a:p>
                    <a:p>
                      <a:pPr algn="l">
                        <a:defRPr sz="919" b="0">
                          <a:latin typeface="Times New Roman"/>
                        </a:defRPr>
                      </a:pPr>
                      <a:r>
                        <a:rPr dirty="0"/>
                        <a:t>Vazquez (2003), Vazquez et al. (2002)</a:t>
                      </a: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F32E904-A094-C96B-09A1-E8120F4F18F9}"/>
              </a:ext>
            </a:extLst>
          </p:cNvPr>
          <p:cNvGraphicFramePr>
            <a:graphicFrameLocks noGrp="1"/>
          </p:cNvGraphicFramePr>
          <p:nvPr>
            <p:extLst>
              <p:ext uri="{D42A27DB-BD31-4B8C-83A1-F6EECF244321}">
                <p14:modId xmlns:p14="http://schemas.microsoft.com/office/powerpoint/2010/main" val="2398722530"/>
              </p:ext>
            </p:extLst>
          </p:nvPr>
        </p:nvGraphicFramePr>
        <p:xfrm>
          <a:off x="0" y="0"/>
          <a:ext cx="12192000" cy="6858004"/>
        </p:xfrm>
        <a:graphic>
          <a:graphicData uri="http://schemas.openxmlformats.org/drawingml/2006/table">
            <a:tbl>
              <a:tblPr>
                <a:tableStyleId>{BC89EF96-8CEA-46FF-86C4-4CE0E7609802}</a:tableStyleId>
              </a:tblPr>
              <a:tblGrid>
                <a:gridCol w="2427482">
                  <a:extLst>
                    <a:ext uri="{9D8B030D-6E8A-4147-A177-3AD203B41FA5}">
                      <a16:colId xmlns:a16="http://schemas.microsoft.com/office/drawing/2014/main" val="3230180031"/>
                    </a:ext>
                  </a:extLst>
                </a:gridCol>
                <a:gridCol w="8375779">
                  <a:extLst>
                    <a:ext uri="{9D8B030D-6E8A-4147-A177-3AD203B41FA5}">
                      <a16:colId xmlns:a16="http://schemas.microsoft.com/office/drawing/2014/main" val="647978603"/>
                    </a:ext>
                  </a:extLst>
                </a:gridCol>
                <a:gridCol w="584394">
                  <a:extLst>
                    <a:ext uri="{9D8B030D-6E8A-4147-A177-3AD203B41FA5}">
                      <a16:colId xmlns:a16="http://schemas.microsoft.com/office/drawing/2014/main" val="90049360"/>
                    </a:ext>
                  </a:extLst>
                </a:gridCol>
                <a:gridCol w="804345">
                  <a:extLst>
                    <a:ext uri="{9D8B030D-6E8A-4147-A177-3AD203B41FA5}">
                      <a16:colId xmlns:a16="http://schemas.microsoft.com/office/drawing/2014/main" val="331784675"/>
                    </a:ext>
                  </a:extLst>
                </a:gridCol>
              </a:tblGrid>
              <a:tr h="203094">
                <a:tc>
                  <a:txBody>
                    <a:bodyPr/>
                    <a:lstStyle/>
                    <a:p>
                      <a:pPr algn="ctr" fontAlgn="t"/>
                      <a:r>
                        <a:rPr lang="en-IN" sz="500" u="none" strike="noStrike">
                          <a:effectLst/>
                        </a:rPr>
                        <a:t>Application area</a:t>
                      </a:r>
                      <a:endParaRPr lang="en-IN" sz="500" b="1" i="0" u="none" strike="noStrike">
                        <a:solidFill>
                          <a:srgbClr val="000000"/>
                        </a:solidFill>
                        <a:effectLst/>
                        <a:latin typeface="Calibri" panose="020F0502020204030204" pitchFamily="34" charset="0"/>
                      </a:endParaRPr>
                    </a:p>
                  </a:txBody>
                  <a:tcPr marL="4155" marR="4155" marT="4155" marB="0"/>
                </a:tc>
                <a:tc>
                  <a:txBody>
                    <a:bodyPr/>
                    <a:lstStyle/>
                    <a:p>
                      <a:pPr algn="ctr" fontAlgn="t"/>
                      <a:r>
                        <a:rPr lang="en-IN" sz="500" u="none" strike="noStrike">
                          <a:effectLst/>
                        </a:rPr>
                        <a:t>References</a:t>
                      </a:r>
                      <a:endParaRPr lang="en-IN" sz="500" b="1" i="0" u="none" strike="noStrike">
                        <a:solidFill>
                          <a:srgbClr val="000000"/>
                        </a:solidFill>
                        <a:effectLst/>
                        <a:latin typeface="Calibri" panose="020F0502020204030204" pitchFamily="34" charset="0"/>
                      </a:endParaRPr>
                    </a:p>
                  </a:txBody>
                  <a:tcPr marL="4155" marR="4155" marT="4155" marB="0"/>
                </a:tc>
                <a:tc>
                  <a:txBody>
                    <a:bodyPr/>
                    <a:lstStyle/>
                    <a:p>
                      <a:pPr algn="ctr" fontAlgn="t"/>
                      <a:r>
                        <a:rPr lang="en-IN" sz="500" u="none" strike="noStrike">
                          <a:effectLst/>
                        </a:rPr>
                        <a:t>References shown</a:t>
                      </a:r>
                      <a:endParaRPr lang="en-IN" sz="500" b="1" i="0" u="none" strike="noStrike">
                        <a:solidFill>
                          <a:srgbClr val="000000"/>
                        </a:solidFill>
                        <a:effectLst/>
                        <a:latin typeface="Calibri" panose="020F0502020204030204" pitchFamily="34" charset="0"/>
                      </a:endParaRPr>
                    </a:p>
                  </a:txBody>
                  <a:tcPr marL="4155" marR="4155" marT="4155" marB="0"/>
                </a:tc>
                <a:tc>
                  <a:txBody>
                    <a:bodyPr/>
                    <a:lstStyle/>
                    <a:p>
                      <a:pPr algn="ctr" fontAlgn="t"/>
                      <a:r>
                        <a:rPr lang="en-IN" sz="500" u="none" strike="noStrike">
                          <a:effectLst/>
                        </a:rPr>
                        <a:t>Corpus papers in this area</a:t>
                      </a:r>
                      <a:endParaRPr lang="en-IN" sz="500" b="1" i="0" u="none" strike="noStrike">
                        <a:solidFill>
                          <a:srgbClr val="000000"/>
                        </a:solidFill>
                        <a:effectLst/>
                        <a:latin typeface="Calibri" panose="020F0502020204030204" pitchFamily="34" charset="0"/>
                      </a:endParaRPr>
                    </a:p>
                  </a:txBody>
                  <a:tcPr marL="4155" marR="4155" marT="4155" marB="0"/>
                </a:tc>
                <a:extLst>
                  <a:ext uri="{0D108BD9-81ED-4DB2-BD59-A6C34878D82A}">
                    <a16:rowId xmlns:a16="http://schemas.microsoft.com/office/drawing/2014/main" val="4099199934"/>
                  </a:ext>
                </a:extLst>
              </a:tr>
              <a:tr h="382592">
                <a:tc>
                  <a:txBody>
                    <a:bodyPr/>
                    <a:lstStyle/>
                    <a:p>
                      <a:pPr algn="l" fontAlgn="b"/>
                      <a:r>
                        <a:rPr lang="en-IN" sz="500" u="none" strike="noStrike">
                          <a:effectLst/>
                        </a:rPr>
                        <a:t>General MIKE SHE references (model description, distributed modelling, reviews)</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Abbott et al. (1986a), Abbott et al. (1986b), Bathurst (1986a), Bathurst (1986b), Bathurst &amp; O’Connell (1992), Borah &amp; Bera (2003), Borah &amp; Bera (2004), Butts &amp; Graham (2005), Devia et al. (2015), Keller et al. (2022), Ma et al. (2016), Refsgaard &amp; Knudsen (1996)</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34</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903154500"/>
                  </a:ext>
                </a:extLst>
              </a:tr>
              <a:tr h="203094">
                <a:tc>
                  <a:txBody>
                    <a:bodyPr/>
                    <a:lstStyle/>
                    <a:p>
                      <a:pPr algn="l" fontAlgn="b"/>
                      <a:r>
                        <a:rPr lang="en-IN" sz="500" u="none" strike="noStrike">
                          <a:effectLst/>
                        </a:rPr>
                        <a:t>River basin management, water allocation and IWRM</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Al‐Khudhairy et al. (1999), Farjad et al. (2017b), Fennell et al. (2022), Hansen et al. (2009), Hoang et al. (2012), Lee et al. (2007), Mishra et al. (2005), Oogathoo (2006), Prucha et al. (2016), Qin et al. (2013), Singh et al. (2010), Zheng et al. (2020)</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108</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827760044"/>
                  </a:ext>
                </a:extLst>
              </a:tr>
              <a:tr h="203094">
                <a:tc>
                  <a:txBody>
                    <a:bodyPr/>
                    <a:lstStyle/>
                    <a:p>
                      <a:pPr algn="l" fontAlgn="b"/>
                      <a:r>
                        <a:rPr lang="en-IN" sz="500" u="none" strike="noStrike">
                          <a:effectLst/>
                        </a:rPr>
                        <a:t>Integrated surface water – groundwater modelling</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Abdulkareem et al. (2018), Borah &amp; Bera (2003), Borah &amp; Bera (2004), Devia et al. (2015), El‐Nasr et al. (2005), Golmohammadi et al. (2014), Jaber &amp; Shukla (2012), Keller et al. (2022), Ridler et al. (2014), Stisen et al. (2011), Thompson et al. (2004), Vansteenkiste et al. (2012)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313</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9884386"/>
                  </a:ext>
                </a:extLst>
              </a:tr>
              <a:tr h="203094">
                <a:tc>
                  <a:txBody>
                    <a:bodyPr/>
                    <a:lstStyle/>
                    <a:p>
                      <a:pPr algn="l" fontAlgn="b"/>
                      <a:r>
                        <a:rPr lang="en-IN" sz="500" u="none" strike="noStrike">
                          <a:effectLst/>
                        </a:rPr>
                        <a:t>Groundwater modelling, recharge and water-table dynamics</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Clilverd et al. (2016), Dai et al. (2010), Fennell et al. (2022), Fennell et al. (2023), Fu et al. (2011), House et al. (2016), Keilholz et al. (2015), Stisen et al. (2011), Stoll et al. (2011), Sultana &amp; Coulibaly (2010), Thorndahl et al. (2016), Waseem et al. (2020)</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201</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862732034"/>
                  </a:ext>
                </a:extLst>
              </a:tr>
              <a:tr h="203094">
                <a:tc>
                  <a:txBody>
                    <a:bodyPr/>
                    <a:lstStyle/>
                    <a:p>
                      <a:pPr algn="l" fontAlgn="b"/>
                      <a:r>
                        <a:rPr lang="en-IN" sz="500" u="none" strike="noStrike">
                          <a:effectLst/>
                        </a:rPr>
                        <a:t>Groundwater pollution, solute transport and remediation</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Azinheira et al. (2014), Borah &amp; Bera (2004), Follin et al. (2008), Hansen et al. (2009), Manna et al. (2019), Neumann et al. (2021), Olesen et al. (2019), Reszler &amp; Fank (2016), Seidenfaden et al. (2022), Sun et al. (2013), Thorsen et al. (1998), Windolf et al. (2011)</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39</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4063664502"/>
                  </a:ext>
                </a:extLst>
              </a:tr>
              <a:tr h="203094">
                <a:tc>
                  <a:txBody>
                    <a:bodyPr/>
                    <a:lstStyle/>
                    <a:p>
                      <a:pPr algn="l" fontAlgn="b"/>
                      <a:r>
                        <a:rPr lang="en-IN" sz="500" u="none" strike="noStrike">
                          <a:effectLst/>
                        </a:rPr>
                        <a:t>Nutrient transport and catchment water quality</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Borah &amp; Bera (2004), Clilverd et al. (2016), Hansen et al. (2009), Hoang et al. (2012), Neumann et al. (2021), Olesen et al. (2019), Refsgaard &amp; Hansen (2010), Sun et al. (2013), Waseem et al. (2018), Waseem et al. (2020), Windolf et al. (2011), Zhao (2012)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49</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542508167"/>
                  </a:ext>
                </a:extLst>
              </a:tr>
              <a:tr h="203094">
                <a:tc>
                  <a:txBody>
                    <a:bodyPr/>
                    <a:lstStyle/>
                    <a:p>
                      <a:pPr algn="l" fontAlgn="b"/>
                      <a:r>
                        <a:rPr lang="en-IN" sz="500" u="none" strike="noStrike">
                          <a:effectLst/>
                        </a:rPr>
                        <a:t>Wetlands and peatlands</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Al‐Khudhairy et al. (1999), Clilverd et al. (2016), Cui et al. (2005), Dai et al. (2010), Dai et al. (2011), Hansen et al. (2009), House et al. (2015), House et al. (2016), Kumar et al. (2021), Singh et al. (2010), Sterte et al. (2021a), Windolf et al. (2011)</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90</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1789633668"/>
                  </a:ext>
                </a:extLst>
              </a:tr>
              <a:tr h="203094">
                <a:tc>
                  <a:txBody>
                    <a:bodyPr/>
                    <a:lstStyle/>
                    <a:p>
                      <a:pPr algn="l" fontAlgn="b"/>
                      <a:r>
                        <a:rPr lang="en-IN" sz="500" u="none" strike="noStrike">
                          <a:effectLst/>
                        </a:rPr>
                        <a:t>Ecohydrology, riparian zones, habitat and environmental flows</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Amatya et al. (2016), Clilverd et al. (2016), Doummar et al. (2012), Fabris et al. (2018), House et al. (2015), House et al. (2016), Keilholz et al. (2015), Ma et al. (2016), Papadimos et al. (2022), Sterte et al. (2022), Thompson et al. (2013b), Zheng et al. (2020)</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54</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341716733"/>
                  </a:ext>
                </a:extLst>
              </a:tr>
              <a:tr h="203094">
                <a:tc>
                  <a:txBody>
                    <a:bodyPr/>
                    <a:lstStyle/>
                    <a:p>
                      <a:pPr algn="l" fontAlgn="b"/>
                      <a:r>
                        <a:rPr lang="en-IN" sz="500" u="none" strike="noStrike">
                          <a:effectLst/>
                        </a:rPr>
                        <a:t>Soil erosion and sediment transport modelling</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Borah et al. (2022), Dimitriou et al. (2018), Kameyama (2013), Ke et al. (2024), Kumar (2021), Kumar et al. (2021), Neumann et al. (2021), Olaleye et al. (2024), Refsgaard (1995), Ryan et al. (2015), Wang et al. (2010), Zhao et al. (2023)</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33</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92225504"/>
                  </a:ext>
                </a:extLst>
              </a:tr>
              <a:tr h="203094">
                <a:tc>
                  <a:txBody>
                    <a:bodyPr/>
                    <a:lstStyle/>
                    <a:p>
                      <a:pPr algn="l" fontAlgn="b"/>
                      <a:r>
                        <a:rPr lang="en-IN" sz="500" u="none" strike="noStrike">
                          <a:effectLst/>
                        </a:rPr>
                        <a:t>Agricultural management and field drainage</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Broekhuizen et al. (2019), Broekhuizen et al. (2021), De Schepper et al. (2017), Hoang et al. (2012), Mahmood et al. (2023a), Mernild et al. (2007), Oogathoo (2006), Ramos &amp; Besharat (2021), Sandu &amp; Vîrsta (2015), Waseem et al. (2018), Waseem et al. (2020), Zhou et al. (2013)</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42</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1990465837"/>
                  </a:ext>
                </a:extLst>
              </a:tr>
              <a:tr h="203094">
                <a:tc>
                  <a:txBody>
                    <a:bodyPr/>
                    <a:lstStyle/>
                    <a:p>
                      <a:pPr algn="l" fontAlgn="b"/>
                      <a:r>
                        <a:rPr lang="en-IN" sz="500" u="none" strike="noStrike">
                          <a:effectLst/>
                        </a:rPr>
                        <a:t>Irrigation and crop water management</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Amatya et al. (2016), Borah &amp; Bera (2003), Borah &amp; Bera (2004), Jayatilaka et al. (1998), Keilholz et al. (2015), Mishra et al. (2005), Papadimos et al. (2022), Prucha et al. (2016), Qin et al. (2013), Rujner et al. (2018), Singh et al. (1999), Singh et al. (2010)</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80</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1377527907"/>
                  </a:ext>
                </a:extLst>
              </a:tr>
              <a:tr h="203094">
                <a:tc>
                  <a:txBody>
                    <a:bodyPr/>
                    <a:lstStyle/>
                    <a:p>
                      <a:pPr algn="l" fontAlgn="b"/>
                      <a:r>
                        <a:rPr lang="en-IN" sz="500" u="none" strike="noStrike">
                          <a:effectLst/>
                        </a:rPr>
                        <a:t>Evapotranspiration, soil moisture and unsaturated-zone processes</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Bitew &amp; Gebremichael (2011), Bosson et al. (2012), House et al. (2016), Jaber &amp; Shukla (2012), Qin et al. (2013), Ridler et al. (2014), Rujner et al. (2018), Stisen et al. (2011), Stoll et al. (2011), Thompson et al. (2013a), Vázquez (2002), Zheng et al. (2020)</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225</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794006661"/>
                  </a:ext>
                </a:extLst>
              </a:tr>
              <a:tr h="203094">
                <a:tc>
                  <a:txBody>
                    <a:bodyPr/>
                    <a:lstStyle/>
                    <a:p>
                      <a:pPr algn="l" fontAlgn="b"/>
                      <a:r>
                        <a:rPr lang="en-IN" sz="500" u="none" strike="noStrike">
                          <a:effectLst/>
                        </a:rPr>
                        <a:t>Remote sensing, weather radar and data assimilation</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Amatya et al. (2016), Andersson &amp; Nilsson (1998), Bitew &amp; Gebremichael (2011), Guzinski et al. (2015), He et al. (2019), Khattab et al. (2025), Luo et al. (2017), Mendiguren et al. (2017), Qin et al. (2013), Ridler et al. (2014), Shu et al. (2018), Zhang et al. (2016)</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92</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3542667776"/>
                  </a:ext>
                </a:extLst>
              </a:tr>
              <a:tr h="203094">
                <a:tc>
                  <a:txBody>
                    <a:bodyPr/>
                    <a:lstStyle/>
                    <a:p>
                      <a:pPr algn="l" fontAlgn="b"/>
                      <a:r>
                        <a:rPr lang="en-IN" sz="500" u="none" strike="noStrike">
                          <a:effectLst/>
                        </a:rPr>
                        <a:t>Land-use / land-cover change and anthropogenic effects</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Amatya et al. (2016), Aredo et al. (2021), Dai et al. (2010), Dai et al. (2011), Farjad et al. (2017a), Im et al. (2008), Jaber &amp; Shukla (2012), Keller et al. (2022), Sterte et al. (2021a), Trinh &amp; Chui (2013), Zhang et al. (2008), Zheng et al. (2020)</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121</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061672495"/>
                  </a:ext>
                </a:extLst>
              </a:tr>
              <a:tr h="203094">
                <a:tc>
                  <a:txBody>
                    <a:bodyPr/>
                    <a:lstStyle/>
                    <a:p>
                      <a:pPr algn="l" fontAlgn="b"/>
                      <a:r>
                        <a:rPr lang="en-IN" sz="500" u="none" strike="noStrike">
                          <a:effectLst/>
                        </a:rPr>
                        <a:t>Climate change impact assessment</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Devia et al. (2015), House et al. (2016), Jaber &amp; Shukla (2012), Keilholz et al. (2015), Keller et al. (2022), Ridler et al. (2014), Stoll et al. (2011), Thompson (2012), Thompson et al. (2013a), Thompson et al. (2013b), Vansteenkiste et al. (2012), Zhang et al. (2021)</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185</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1668274796"/>
                  </a:ext>
                </a:extLst>
              </a:tr>
              <a:tr h="203094">
                <a:tc>
                  <a:txBody>
                    <a:bodyPr/>
                    <a:lstStyle/>
                    <a:p>
                      <a:pPr algn="l" fontAlgn="b"/>
                      <a:r>
                        <a:rPr lang="en-IN" sz="500" u="none" strike="noStrike">
                          <a:effectLst/>
                        </a:rPr>
                        <a:t>Flood modelling, inundation mapping and flood forecasting</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Azinheira et al. (2014), Clilverd et al. (2016), Farjad et al. (2017a), Guinot &amp; Gourbesville (2003), House et al. (2015), Huţanu et al. (2020), Keilholz et al. (2015), Kumar et al. (2021), Lucatero et al. (2018), Marshall et al. (2025), Mernild et al. (2007), Thompson (2012)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173</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749826443"/>
                  </a:ext>
                </a:extLst>
              </a:tr>
              <a:tr h="203094">
                <a:tc>
                  <a:txBody>
                    <a:bodyPr/>
                    <a:lstStyle/>
                    <a:p>
                      <a:pPr algn="l" fontAlgn="b"/>
                      <a:r>
                        <a:rPr lang="en-IN" sz="500" u="none" strike="noStrike">
                          <a:effectLst/>
                        </a:rPr>
                        <a:t>Drought, low flow and baseflow</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Chan et al. (2020), Fennell et al. (2022), Fennell et al. (2023), Kumar et al. (2021), Liu et al. (2016), Sterte et al. (2022), Thompson et al. (2013a), Thompson et al. (2013b), Thompson et al. (2017), Vansteenkiste et al. (2012), Vu et al. (2017), Vázquez et al. (2007)</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69</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788356012"/>
                  </a:ext>
                </a:extLst>
              </a:tr>
              <a:tr h="203094">
                <a:tc>
                  <a:txBody>
                    <a:bodyPr/>
                    <a:lstStyle/>
                    <a:p>
                      <a:pPr algn="l" fontAlgn="b"/>
                      <a:r>
                        <a:rPr lang="en-IN" sz="500" u="none" strike="noStrike">
                          <a:effectLst/>
                        </a:rPr>
                        <a:t>Urban hydrology, stormwater and green infrastructure</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Broekhuizen et al. (2019), Broekhuizen et al. (2021), Jaber &amp; Shukla (2004), Kumar et al. (2021), LaBianca et al. (2023), Mauck (2017), Poozan et al. (2024), Ramos &amp; Besharat (2021), Rujner et al. (2018), Thorndahl et al. (2016), Trinh &amp; Chui (2013), Zhao (2012)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44</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1503672926"/>
                  </a:ext>
                </a:extLst>
              </a:tr>
              <a:tr h="203094">
                <a:tc>
                  <a:txBody>
                    <a:bodyPr/>
                    <a:lstStyle/>
                    <a:p>
                      <a:pPr algn="l" fontAlgn="b"/>
                      <a:r>
                        <a:rPr lang="en-IN" sz="500" u="none" strike="noStrike">
                          <a:effectLst/>
                        </a:rPr>
                        <a:t>Snow, glacier and permafrost hydrology</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Bosson et al. (2012), Bøggild et al. (1999), Foster &amp; Allen (2015), Hasan et al. (2025), Keilholz et al. (2015), Krajčí et al. (2016), Liu et al. (2016), Liu et al. (2017), Luo et al. (2017), Mernild et al. (2007), Oogathoo (2006), Sterte et al. (2021a)</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34</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862880557"/>
                  </a:ext>
                </a:extLst>
              </a:tr>
              <a:tr h="203094">
                <a:tc>
                  <a:txBody>
                    <a:bodyPr/>
                    <a:lstStyle/>
                    <a:p>
                      <a:pPr algn="l" fontAlgn="b"/>
                      <a:r>
                        <a:rPr lang="en-IN" sz="500" u="none" strike="noStrike">
                          <a:effectLst/>
                        </a:rPr>
                        <a:t>Reservoir, dam, canal and hydropower operation</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Bizhanimanzar et al. (2020), Jaber &amp; Shukla (2004), Jaber &amp; Shukla (2012), Jeníček (2006), Khattab et al. (2025), Khwairakpam et al. (2018), Olaleye et al. (2024), Prucha et al. (2016), Singh et al. (2010), Thompson (2004), Thompson (2012), Zhang et al. (2021)</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54</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632297228"/>
                  </a:ext>
                </a:extLst>
              </a:tr>
              <a:tr h="203094">
                <a:tc>
                  <a:txBody>
                    <a:bodyPr/>
                    <a:lstStyle/>
                    <a:p>
                      <a:pPr algn="l" fontAlgn="b"/>
                      <a:r>
                        <a:rPr lang="en-IN" sz="500" u="none" strike="noStrike">
                          <a:effectLst/>
                        </a:rPr>
                        <a:t>Mining, quarry and construction dewatering</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Abdulkareem et al. (2018), Chalkidis et al. (2016), Goodall et al. (2007), Johansson et al. (2005), Maest et al. (2020), Olaleye et al. (2024), Ping et al. (2017), Quang et al. (2022), Rubarenzya et al. (2006), Tolson &amp; Shoemaker (2008), Turgeon et al. (2018), Zhou et al. (2025)</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21</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1466491175"/>
                  </a:ext>
                </a:extLst>
              </a:tr>
              <a:tr h="203094">
                <a:tc>
                  <a:txBody>
                    <a:bodyPr/>
                    <a:lstStyle/>
                    <a:p>
                      <a:pPr algn="l" fontAlgn="b"/>
                      <a:r>
                        <a:rPr lang="en-IN" sz="500" u="none" strike="noStrike">
                          <a:effectLst/>
                        </a:rPr>
                        <a:t>Coastal groundwater, salinity and sea-level rise</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Andreassen (2008), Cui et al. (2023), Daneshmand (2018), Flannery et al. (2010), Iravani &amp; Thompson (2022), Keilholz et al. (2015), Mauck (2017), Ridler et al. (2014), Roshani et al. (2015), Ryan (2007), Thoe et al. (2010), Yamagata et al. (2012)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17</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447546803"/>
                  </a:ext>
                </a:extLst>
              </a:tr>
              <a:tr h="203094">
                <a:tc>
                  <a:txBody>
                    <a:bodyPr/>
                    <a:lstStyle/>
                    <a:p>
                      <a:pPr algn="l" fontAlgn="b"/>
                      <a:r>
                        <a:rPr lang="en-IN" sz="500" u="none" strike="noStrike">
                          <a:effectLst/>
                        </a:rPr>
                        <a:t>Karst and fractured-rock hydrology</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De-ba (2014), Doummar (2012a), Doummar (2012b), Doummar et al. (2011), Doummar et al. (2012), Vrsalović (2025)</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6</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6</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238487262"/>
                  </a:ext>
                </a:extLst>
              </a:tr>
              <a:tr h="203094">
                <a:tc>
                  <a:txBody>
                    <a:bodyPr/>
                    <a:lstStyle/>
                    <a:p>
                      <a:pPr algn="l" fontAlgn="b"/>
                      <a:r>
                        <a:rPr lang="en-IN" sz="500" u="none" strike="noStrike">
                          <a:effectLst/>
                        </a:rPr>
                        <a:t>Isotope, tracer and travel-time studies</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Andreassen (2008), Azinheira et al. (2014), Doummar (2012a), Johansson et al. (2005), LaBianca et al. (2022), LaBianca et al. (2023), Manna et al. (2019), Seddon (2019), Sharma et al. (2025), Sterte et al. (2021a), Sterte et al. (2021b), Sterte et al. (2022)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30</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1213383357"/>
                  </a:ext>
                </a:extLst>
              </a:tr>
              <a:tr h="203094">
                <a:tc>
                  <a:txBody>
                    <a:bodyPr/>
                    <a:lstStyle/>
                    <a:p>
                      <a:pPr algn="l" fontAlgn="b"/>
                      <a:r>
                        <a:rPr lang="en-IN" sz="500" u="none" strike="noStrike">
                          <a:effectLst/>
                        </a:rPr>
                        <a:t>Carbon, greenhouse gas and biogeochemical coupling</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Andreassen (2008), Clilverd et al. (2016), Cui et al. (2005), Karlsson et al. (2014), Neumann et al. (2021), Ryan (2007), Sterte et al. (2021a), Sterte et al. (2021b), Sterte et al. (2022), Sun et al. (2013), Sun et al. (2020), Zheng et al. (2020)</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26</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1731396656"/>
                  </a:ext>
                </a:extLst>
              </a:tr>
              <a:tr h="203094">
                <a:tc>
                  <a:txBody>
                    <a:bodyPr/>
                    <a:lstStyle/>
                    <a:p>
                      <a:pPr algn="l" fontAlgn="b"/>
                      <a:r>
                        <a:rPr lang="en-IN" sz="500" u="none" strike="noStrike">
                          <a:effectLst/>
                        </a:rPr>
                        <a:t>Nature-based solutions, restoration and managed aquifer recharge</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Al‐Khudhairy et al. (1999), Azinheira et al. (2014), Clilverd et al. (2016), Dai et al. (2010), Fennell et al. (2022), Fennell et al. (2023), Kumar et al. (2021), Poozan et al. (2024), Singh (2010), Sun et al. (2013), Thompson (2004), Trinh &amp; Chui (2013)</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60</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436686124"/>
                  </a:ext>
                </a:extLst>
              </a:tr>
              <a:tr h="382592">
                <a:tc>
                  <a:txBody>
                    <a:bodyPr/>
                    <a:lstStyle/>
                    <a:p>
                      <a:pPr algn="l" fontAlgn="b"/>
                      <a:r>
                        <a:rPr lang="en-IN" sz="500" u="none" strike="noStrike">
                          <a:effectLst/>
                        </a:rPr>
                        <a:t>Model parameter estimation, calibration and validation</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Bitew &amp; Gebremichael (2011), Borah &amp; Bera (2004), Devia et al. (2015), El‐Nasr et al. (2005), Golmohammadi et al. (2014), Jaber &amp; Shukla (2012), McMichael et al. (2005), Refsgaard &amp; Knudsen (1996), Sahoo et al. (2006), Thompson et al. (2013a), Wang et al. (2012), Xevi et al. (1997)</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292</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496765469"/>
                  </a:ext>
                </a:extLst>
              </a:tr>
              <a:tr h="203094">
                <a:tc>
                  <a:txBody>
                    <a:bodyPr/>
                    <a:lstStyle/>
                    <a:p>
                      <a:pPr algn="l" fontAlgn="b"/>
                      <a:r>
                        <a:rPr lang="en-IN" sz="500" u="none" strike="noStrike">
                          <a:effectLst/>
                        </a:rPr>
                        <a:t>Uncertainty, sensitivity, scale and model-structure analysis</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Borah &amp; Bera (2003), Christiaens &amp; Feyen (2001), Keller et al. (2022), McMichael et al. (2005), Ridler et al. (2014), Stisen et al. (2011), Stoll et al. (2011), Thompson et al. (2013a), Thompson et al. (2013b), Wang et al. (2012), Xevi et al. (1997), Yang et al. (2000)</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207</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266476534"/>
                  </a:ext>
                </a:extLst>
              </a:tr>
              <a:tr h="203094">
                <a:tc>
                  <a:txBody>
                    <a:bodyPr/>
                    <a:lstStyle/>
                    <a:p>
                      <a:pPr algn="l" fontAlgn="b"/>
                      <a:r>
                        <a:rPr lang="en-IN" sz="500" u="none" strike="noStrike">
                          <a:effectLst/>
                        </a:rPr>
                        <a:t>Model comparison, benchmarking and intercomparison</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Bandini et al. (2017), Bizhanimanzar et al. (2020), Bøggild et al. (1999), Huţanu et al. (2020), Kumar et al. (2021), Olesen et al. (2019), Qin et al. (2013), Refsgaard &amp; Knudsen (1996), Stisen et al. (2011), Stoll et al. (2011), Thorsen et al. (1998), Zhu et al. (2014)</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60</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4201282357"/>
                  </a:ext>
                </a:extLst>
              </a:tr>
              <a:tr h="203094">
                <a:tc>
                  <a:txBody>
                    <a:bodyPr/>
                    <a:lstStyle/>
                    <a:p>
                      <a:pPr algn="l" fontAlgn="b"/>
                      <a:r>
                        <a:rPr lang="en-IN" sz="500" u="none" strike="noStrike">
                          <a:effectLst/>
                        </a:rPr>
                        <a:t>Machine learning, surrogate modelling and computational performance</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Abdulkareem et al. (2018), Ali et al. (2025), Andreassen (2008), Bizhanimanzar et al. (2019), Bizhanimanzar et al. (2020), Chin &amp; Lai (2025), Li et al. (2021), Mahmood et al. (2023b), Marshall et al. (2025), Olaleye et al. (2024), Papagera et al. (2014), Thoe et al. (2010)</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12</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33</a:t>
                      </a:r>
                      <a:endParaRPr lang="en-IN" sz="500" b="0" i="0" u="none" strike="noStrike">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2398360041"/>
                  </a:ext>
                </a:extLst>
              </a:tr>
              <a:tr h="203094">
                <a:tc>
                  <a:txBody>
                    <a:bodyPr/>
                    <a:lstStyle/>
                    <a:p>
                      <a:pPr algn="l" fontAlgn="b"/>
                      <a:r>
                        <a:rPr lang="en-IN" sz="500" u="none" strike="noStrike">
                          <a:effectLst/>
                        </a:rPr>
                        <a:t>Water-related public health and palaeo-/archaeo-hydrology</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l" fontAlgn="b"/>
                      <a:r>
                        <a:rPr lang="en-IN" sz="500" u="none" strike="noStrike">
                          <a:effectLst/>
                        </a:rPr>
                        <a:t>Camkin &amp; Neto (2024), Lim et al. (2026), Mishra et al. (2026), Nilges et al. (2025), Thoe et al. (2010), Thoe et al. (2022), William &amp; Schmidt (2015)</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a:effectLst/>
                        </a:rPr>
                        <a:t>7</a:t>
                      </a:r>
                      <a:endParaRPr lang="en-IN" sz="500" b="0" i="0" u="none" strike="noStrike">
                        <a:solidFill>
                          <a:srgbClr val="000000"/>
                        </a:solidFill>
                        <a:effectLst/>
                        <a:latin typeface="Calibri" panose="020F0502020204030204" pitchFamily="34" charset="0"/>
                      </a:endParaRPr>
                    </a:p>
                  </a:txBody>
                  <a:tcPr marL="4155" marR="4155" marT="4155" marB="0" anchor="b"/>
                </a:tc>
                <a:tc>
                  <a:txBody>
                    <a:bodyPr/>
                    <a:lstStyle/>
                    <a:p>
                      <a:pPr algn="r" fontAlgn="b"/>
                      <a:r>
                        <a:rPr lang="en-IN" sz="500" u="none" strike="noStrike" dirty="0">
                          <a:effectLst/>
                        </a:rPr>
                        <a:t>7</a:t>
                      </a:r>
                      <a:endParaRPr lang="en-IN" sz="500" b="0" i="0" u="none" strike="noStrike" dirty="0">
                        <a:solidFill>
                          <a:srgbClr val="000000"/>
                        </a:solidFill>
                        <a:effectLst/>
                        <a:latin typeface="Calibri" panose="020F0502020204030204" pitchFamily="34" charset="0"/>
                      </a:endParaRPr>
                    </a:p>
                  </a:txBody>
                  <a:tcPr marL="4155" marR="4155" marT="4155" marB="0" anchor="b"/>
                </a:tc>
                <a:extLst>
                  <a:ext uri="{0D108BD9-81ED-4DB2-BD59-A6C34878D82A}">
                    <a16:rowId xmlns:a16="http://schemas.microsoft.com/office/drawing/2014/main" val="309738308"/>
                  </a:ext>
                </a:extLst>
              </a:tr>
            </a:tbl>
          </a:graphicData>
        </a:graphic>
      </p:graphicFrame>
    </p:spTree>
    <p:extLst>
      <p:ext uri="{BB962C8B-B14F-4D97-AF65-F5344CB8AC3E}">
        <p14:creationId xmlns:p14="http://schemas.microsoft.com/office/powerpoint/2010/main" val="223996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BEF7A6-BE49-037D-A0B1-41DB95CE0DAB}"/>
              </a:ext>
            </a:extLst>
          </p:cNvPr>
          <p:cNvPicPr>
            <a:picLocks noChangeAspect="1"/>
          </p:cNvPicPr>
          <p:nvPr/>
        </p:nvPicPr>
        <p:blipFill>
          <a:blip r:embed="rId2"/>
          <a:stretch>
            <a:fillRect/>
          </a:stretch>
        </p:blipFill>
        <p:spPr>
          <a:xfrm>
            <a:off x="828339" y="10459"/>
            <a:ext cx="10411161" cy="6847541"/>
          </a:xfrm>
          <a:prstGeom prst="rect">
            <a:avLst/>
          </a:prstGeom>
        </p:spPr>
      </p:pic>
    </p:spTree>
    <p:extLst>
      <p:ext uri="{BB962C8B-B14F-4D97-AF65-F5344CB8AC3E}">
        <p14:creationId xmlns:p14="http://schemas.microsoft.com/office/powerpoint/2010/main" val="402014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B79876-99CD-AA5F-CD8E-FEAB44725629}"/>
              </a:ext>
            </a:extLst>
          </p:cNvPr>
          <p:cNvPicPr>
            <a:picLocks noChangeAspect="1"/>
          </p:cNvPicPr>
          <p:nvPr/>
        </p:nvPicPr>
        <p:blipFill>
          <a:blip r:embed="rId2"/>
          <a:stretch>
            <a:fillRect/>
          </a:stretch>
        </p:blipFill>
        <p:spPr>
          <a:xfrm>
            <a:off x="3484408" y="0"/>
            <a:ext cx="5223184" cy="6858000"/>
          </a:xfrm>
          <a:prstGeom prst="rect">
            <a:avLst/>
          </a:prstGeom>
        </p:spPr>
      </p:pic>
    </p:spTree>
    <p:extLst>
      <p:ext uri="{BB962C8B-B14F-4D97-AF65-F5344CB8AC3E}">
        <p14:creationId xmlns:p14="http://schemas.microsoft.com/office/powerpoint/2010/main" val="660596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F7A69A-030F-2A63-7CA2-498D1C99B53A}"/>
              </a:ext>
            </a:extLst>
          </p:cNvPr>
          <p:cNvPicPr>
            <a:picLocks noChangeAspect="1"/>
          </p:cNvPicPr>
          <p:nvPr/>
        </p:nvPicPr>
        <p:blipFill>
          <a:blip r:embed="rId2"/>
          <a:stretch>
            <a:fillRect/>
          </a:stretch>
        </p:blipFill>
        <p:spPr>
          <a:xfrm>
            <a:off x="3408261" y="0"/>
            <a:ext cx="5375477" cy="6858000"/>
          </a:xfrm>
          <a:prstGeom prst="rect">
            <a:avLst/>
          </a:prstGeom>
        </p:spPr>
      </p:pic>
    </p:spTree>
    <p:extLst>
      <p:ext uri="{BB962C8B-B14F-4D97-AF65-F5344CB8AC3E}">
        <p14:creationId xmlns:p14="http://schemas.microsoft.com/office/powerpoint/2010/main" val="1139275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1AF923-8511-FD74-7282-13773B1198B8}"/>
              </a:ext>
            </a:extLst>
          </p:cNvPr>
          <p:cNvPicPr>
            <a:picLocks noChangeAspect="1"/>
          </p:cNvPicPr>
          <p:nvPr/>
        </p:nvPicPr>
        <p:blipFill>
          <a:blip r:embed="rId2"/>
          <a:stretch>
            <a:fillRect/>
          </a:stretch>
        </p:blipFill>
        <p:spPr>
          <a:xfrm>
            <a:off x="1475040" y="0"/>
            <a:ext cx="9241919" cy="6858000"/>
          </a:xfrm>
          <a:prstGeom prst="rect">
            <a:avLst/>
          </a:prstGeom>
        </p:spPr>
      </p:pic>
    </p:spTree>
    <p:extLst>
      <p:ext uri="{BB962C8B-B14F-4D97-AF65-F5344CB8AC3E}">
        <p14:creationId xmlns:p14="http://schemas.microsoft.com/office/powerpoint/2010/main" val="1194681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497F2C-D700-C568-B171-084ED9B50FC9}"/>
              </a:ext>
            </a:extLst>
          </p:cNvPr>
          <p:cNvPicPr>
            <a:picLocks noChangeAspect="1"/>
          </p:cNvPicPr>
          <p:nvPr/>
        </p:nvPicPr>
        <p:blipFill>
          <a:blip r:embed="rId2"/>
          <a:stretch>
            <a:fillRect/>
          </a:stretch>
        </p:blipFill>
        <p:spPr>
          <a:xfrm>
            <a:off x="1295400" y="0"/>
            <a:ext cx="7772400" cy="5551714"/>
          </a:xfrm>
          <a:prstGeom prst="rect">
            <a:avLst/>
          </a:prstGeom>
        </p:spPr>
      </p:pic>
    </p:spTree>
    <p:extLst>
      <p:ext uri="{BB962C8B-B14F-4D97-AF65-F5344CB8AC3E}">
        <p14:creationId xmlns:p14="http://schemas.microsoft.com/office/powerpoint/2010/main" val="2241420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6845E8-A3AB-BBF1-9496-17E98670FD00}"/>
              </a:ext>
            </a:extLst>
          </p:cNvPr>
          <p:cNvPicPr>
            <a:picLocks noChangeAspect="1"/>
          </p:cNvPicPr>
          <p:nvPr/>
        </p:nvPicPr>
        <p:blipFill>
          <a:blip r:embed="rId2"/>
          <a:stretch>
            <a:fillRect/>
          </a:stretch>
        </p:blipFill>
        <p:spPr>
          <a:xfrm>
            <a:off x="1047750" y="1936750"/>
            <a:ext cx="7772400" cy="2297501"/>
          </a:xfrm>
          <a:prstGeom prst="rect">
            <a:avLst/>
          </a:prstGeom>
        </p:spPr>
      </p:pic>
    </p:spTree>
    <p:extLst>
      <p:ext uri="{BB962C8B-B14F-4D97-AF65-F5344CB8AC3E}">
        <p14:creationId xmlns:p14="http://schemas.microsoft.com/office/powerpoint/2010/main" val="3200144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839C1B-0C35-1DB1-61AD-75DD7DA0A27E}"/>
              </a:ext>
            </a:extLst>
          </p:cNvPr>
          <p:cNvPicPr>
            <a:picLocks noChangeAspect="1"/>
          </p:cNvPicPr>
          <p:nvPr/>
        </p:nvPicPr>
        <p:blipFill>
          <a:blip r:embed="rId2"/>
          <a:stretch>
            <a:fillRect/>
          </a:stretch>
        </p:blipFill>
        <p:spPr>
          <a:xfrm>
            <a:off x="1270000" y="2089150"/>
            <a:ext cx="7772400" cy="2157863"/>
          </a:xfrm>
          <a:prstGeom prst="rect">
            <a:avLst/>
          </a:prstGeom>
        </p:spPr>
      </p:pic>
    </p:spTree>
    <p:extLst>
      <p:ext uri="{BB962C8B-B14F-4D97-AF65-F5344CB8AC3E}">
        <p14:creationId xmlns:p14="http://schemas.microsoft.com/office/powerpoint/2010/main" val="631670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E9B481-9F81-15EA-0C8A-BC2DA80E3D87}"/>
              </a:ext>
            </a:extLst>
          </p:cNvPr>
          <p:cNvPicPr>
            <a:picLocks noChangeAspect="1"/>
          </p:cNvPicPr>
          <p:nvPr/>
        </p:nvPicPr>
        <p:blipFill>
          <a:blip r:embed="rId2"/>
          <a:stretch>
            <a:fillRect/>
          </a:stretch>
        </p:blipFill>
        <p:spPr>
          <a:xfrm>
            <a:off x="1149350" y="444500"/>
            <a:ext cx="7772400" cy="4689381"/>
          </a:xfrm>
          <a:prstGeom prst="rect">
            <a:avLst/>
          </a:prstGeom>
        </p:spPr>
      </p:pic>
    </p:spTree>
    <p:extLst>
      <p:ext uri="{BB962C8B-B14F-4D97-AF65-F5344CB8AC3E}">
        <p14:creationId xmlns:p14="http://schemas.microsoft.com/office/powerpoint/2010/main" val="2435795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5BE3F6-A9B9-F0D1-F284-631C2DFE409B}"/>
              </a:ext>
            </a:extLst>
          </p:cNvPr>
          <p:cNvPicPr>
            <a:picLocks noChangeAspect="1"/>
          </p:cNvPicPr>
          <p:nvPr/>
        </p:nvPicPr>
        <p:blipFill>
          <a:blip r:embed="rId2"/>
          <a:stretch>
            <a:fillRect/>
          </a:stretch>
        </p:blipFill>
        <p:spPr>
          <a:xfrm>
            <a:off x="980917" y="0"/>
            <a:ext cx="7772400" cy="5210386"/>
          </a:xfrm>
          <a:prstGeom prst="rect">
            <a:avLst/>
          </a:prstGeom>
        </p:spPr>
      </p:pic>
    </p:spTree>
    <p:extLst>
      <p:ext uri="{BB962C8B-B14F-4D97-AF65-F5344CB8AC3E}">
        <p14:creationId xmlns:p14="http://schemas.microsoft.com/office/powerpoint/2010/main" val="1701920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D516CC-A09C-A362-5F94-D35BC0BCABC3}"/>
              </a:ext>
            </a:extLst>
          </p:cNvPr>
          <p:cNvPicPr>
            <a:picLocks noChangeAspect="1"/>
          </p:cNvPicPr>
          <p:nvPr/>
        </p:nvPicPr>
        <p:blipFill>
          <a:blip r:embed="rId2"/>
          <a:stretch>
            <a:fillRect/>
          </a:stretch>
        </p:blipFill>
        <p:spPr>
          <a:xfrm>
            <a:off x="1421130" y="0"/>
            <a:ext cx="7772400" cy="5701026"/>
          </a:xfrm>
          <a:prstGeom prst="rect">
            <a:avLst/>
          </a:prstGeom>
        </p:spPr>
      </p:pic>
    </p:spTree>
    <p:extLst>
      <p:ext uri="{BB962C8B-B14F-4D97-AF65-F5344CB8AC3E}">
        <p14:creationId xmlns:p14="http://schemas.microsoft.com/office/powerpoint/2010/main" val="2090580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14AD2E-A693-3603-60B0-A38740A7D808}"/>
              </a:ext>
            </a:extLst>
          </p:cNvPr>
          <p:cNvPicPr>
            <a:picLocks noChangeAspect="1"/>
          </p:cNvPicPr>
          <p:nvPr/>
        </p:nvPicPr>
        <p:blipFill>
          <a:blip r:embed="rId2"/>
          <a:stretch>
            <a:fillRect/>
          </a:stretch>
        </p:blipFill>
        <p:spPr>
          <a:xfrm>
            <a:off x="1421642" y="0"/>
            <a:ext cx="7772400" cy="5701651"/>
          </a:xfrm>
          <a:prstGeom prst="rect">
            <a:avLst/>
          </a:prstGeom>
        </p:spPr>
      </p:pic>
    </p:spTree>
    <p:extLst>
      <p:ext uri="{BB962C8B-B14F-4D97-AF65-F5344CB8AC3E}">
        <p14:creationId xmlns:p14="http://schemas.microsoft.com/office/powerpoint/2010/main" val="1876744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49DF2D-DE3B-14D6-6DE4-BD95613149F4}"/>
              </a:ext>
            </a:extLst>
          </p:cNvPr>
          <p:cNvPicPr>
            <a:picLocks noChangeAspect="1"/>
          </p:cNvPicPr>
          <p:nvPr/>
        </p:nvPicPr>
        <p:blipFill>
          <a:blip r:embed="rId2"/>
          <a:stretch>
            <a:fillRect/>
          </a:stretch>
        </p:blipFill>
        <p:spPr>
          <a:xfrm>
            <a:off x="1461448" y="0"/>
            <a:ext cx="7772400" cy="5750622"/>
          </a:xfrm>
          <a:prstGeom prst="rect">
            <a:avLst/>
          </a:prstGeom>
        </p:spPr>
      </p:pic>
    </p:spTree>
    <p:extLst>
      <p:ext uri="{BB962C8B-B14F-4D97-AF65-F5344CB8AC3E}">
        <p14:creationId xmlns:p14="http://schemas.microsoft.com/office/powerpoint/2010/main" val="900501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54F4E3-721D-14AD-4399-2C6C4B8EE47A}"/>
              </a:ext>
            </a:extLst>
          </p:cNvPr>
          <p:cNvPicPr>
            <a:picLocks noChangeAspect="1"/>
          </p:cNvPicPr>
          <p:nvPr/>
        </p:nvPicPr>
        <p:blipFill>
          <a:blip r:embed="rId2"/>
          <a:stretch>
            <a:fillRect/>
          </a:stretch>
        </p:blipFill>
        <p:spPr>
          <a:xfrm>
            <a:off x="1323202" y="0"/>
            <a:ext cx="7772400" cy="5584054"/>
          </a:xfrm>
          <a:prstGeom prst="rect">
            <a:avLst/>
          </a:prstGeom>
        </p:spPr>
      </p:pic>
    </p:spTree>
    <p:extLst>
      <p:ext uri="{BB962C8B-B14F-4D97-AF65-F5344CB8AC3E}">
        <p14:creationId xmlns:p14="http://schemas.microsoft.com/office/powerpoint/2010/main" val="1427110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347472"/>
            <a:ext cx="7315200" cy="274320"/>
          </a:xfrm>
          <a:prstGeom prst="rect">
            <a:avLst/>
          </a:prstGeom>
          <a:noFill/>
          <a:ln/>
        </p:spPr>
        <p:txBody>
          <a:bodyPr wrap="square" lIns="0" tIns="0" rIns="0" bIns="0" rtlCol="0" anchor="ctr"/>
          <a:lstStyle/>
          <a:p>
            <a:pPr marL="0" indent="0">
              <a:buNone/>
            </a:pPr>
            <a:r>
              <a:rPr lang="en-US" sz="1100" kern="0" spc="300" dirty="0">
                <a:solidFill>
                  <a:srgbClr val="7A7F76"/>
                </a:solidFill>
                <a:latin typeface="Calibri" pitchFamily="34" charset="0"/>
                <a:ea typeface="Calibri" pitchFamily="34" charset="-122"/>
                <a:cs typeface="Calibri" pitchFamily="34" charset="-120"/>
              </a:rPr>
              <a:t>RESEARCH APPLICATIONS</a:t>
            </a:r>
            <a:endParaRPr lang="en-US" sz="1100" dirty="0"/>
          </a:p>
        </p:txBody>
      </p:sp>
      <p:sp>
        <p:nvSpPr>
          <p:cNvPr id="3" name="Text 1"/>
          <p:cNvSpPr/>
          <p:nvPr/>
        </p:nvSpPr>
        <p:spPr>
          <a:xfrm>
            <a:off x="9859975" y="347472"/>
            <a:ext cx="1645920" cy="274320"/>
          </a:xfrm>
          <a:prstGeom prst="rect">
            <a:avLst/>
          </a:prstGeom>
          <a:noFill/>
          <a:ln/>
        </p:spPr>
        <p:txBody>
          <a:bodyPr wrap="square" lIns="0" tIns="0" rIns="0" bIns="0" rtlCol="0" anchor="ctr"/>
          <a:lstStyle/>
          <a:p>
            <a:pPr marL="0" indent="0" algn="r">
              <a:buNone/>
            </a:pPr>
            <a:r>
              <a:rPr lang="en-US" sz="1100" kern="0" spc="300" dirty="0">
                <a:solidFill>
                  <a:srgbClr val="7A7F76"/>
                </a:solidFill>
                <a:latin typeface="Calibri" pitchFamily="34" charset="0"/>
                <a:ea typeface="Calibri" pitchFamily="34" charset="-122"/>
                <a:cs typeface="Calibri" pitchFamily="34" charset="-120"/>
              </a:rPr>
              <a:t>08</a:t>
            </a:r>
            <a:endParaRPr lang="en-US" sz="1100" dirty="0"/>
          </a:p>
        </p:txBody>
      </p:sp>
      <p:sp>
        <p:nvSpPr>
          <p:cNvPr id="4" name="Text 2"/>
          <p:cNvSpPr/>
          <p:nvPr/>
        </p:nvSpPr>
        <p:spPr>
          <a:xfrm>
            <a:off x="10134295" y="6492240"/>
            <a:ext cx="1371600" cy="228600"/>
          </a:xfrm>
          <a:prstGeom prst="rect">
            <a:avLst/>
          </a:prstGeom>
          <a:noFill/>
          <a:ln/>
        </p:spPr>
        <p:txBody>
          <a:bodyPr wrap="square" lIns="0" tIns="0" rIns="0" bIns="0" rtlCol="0" anchor="ctr"/>
          <a:lstStyle/>
          <a:p>
            <a:pPr marL="0" indent="0" algn="r">
              <a:buNone/>
            </a:pPr>
            <a:r>
              <a:rPr lang="en-US" sz="1000" dirty="0">
                <a:solidFill>
                  <a:srgbClr val="7A7F76"/>
                </a:solidFill>
                <a:latin typeface="Calibri" pitchFamily="34" charset="0"/>
                <a:ea typeface="Calibri" pitchFamily="34" charset="-122"/>
                <a:cs typeface="Calibri" pitchFamily="34" charset="-120"/>
              </a:rPr>
              <a:t>8  /  9</a:t>
            </a:r>
            <a:endParaRPr lang="en-US" sz="1000" dirty="0"/>
          </a:p>
        </p:txBody>
      </p:sp>
      <p:sp>
        <p:nvSpPr>
          <p:cNvPr id="5" name="Text 3"/>
          <p:cNvSpPr/>
          <p:nvPr/>
        </p:nvSpPr>
        <p:spPr>
          <a:xfrm>
            <a:off x="685800" y="777240"/>
            <a:ext cx="10058400" cy="502920"/>
          </a:xfrm>
          <a:prstGeom prst="rect">
            <a:avLst/>
          </a:prstGeom>
          <a:noFill/>
          <a:ln/>
        </p:spPr>
        <p:txBody>
          <a:bodyPr wrap="square" lIns="0" tIns="0" rIns="0" bIns="0" rtlCol="0" anchor="ctr"/>
          <a:lstStyle/>
          <a:p>
            <a:pPr marL="0" indent="0">
              <a:buNone/>
            </a:pPr>
            <a:r>
              <a:rPr lang="en-US" sz="2800" dirty="0">
                <a:solidFill>
                  <a:srgbClr val="1B2420"/>
                </a:solidFill>
                <a:latin typeface="Georgia" pitchFamily="34" charset="0"/>
                <a:ea typeface="Georgia" pitchFamily="34" charset="-122"/>
                <a:cs typeface="Georgia" pitchFamily="34" charset="-120"/>
              </a:rPr>
              <a:t>Further Academic &amp; Applied Domains</a:t>
            </a:r>
            <a:endParaRPr lang="en-US" sz="2800" dirty="0"/>
          </a:p>
        </p:txBody>
      </p:sp>
      <p:sp>
        <p:nvSpPr>
          <p:cNvPr id="6" name="Shape 4"/>
          <p:cNvSpPr/>
          <p:nvPr/>
        </p:nvSpPr>
        <p:spPr>
          <a:xfrm>
            <a:off x="685800" y="1554480"/>
            <a:ext cx="201168" cy="201168"/>
          </a:xfrm>
          <a:prstGeom prst="ellipse">
            <a:avLst/>
          </a:prstGeom>
          <a:solidFill>
            <a:srgbClr val="3B5D3A"/>
          </a:solidFill>
          <a:ln/>
        </p:spPr>
      </p:sp>
      <p:sp>
        <p:nvSpPr>
          <p:cNvPr id="7" name="Text 5"/>
          <p:cNvSpPr/>
          <p:nvPr/>
        </p:nvSpPr>
        <p:spPr>
          <a:xfrm>
            <a:off x="1051560" y="1463040"/>
            <a:ext cx="5029200" cy="457200"/>
          </a:xfrm>
          <a:prstGeom prst="rect">
            <a:avLst/>
          </a:prstGeom>
          <a:noFill/>
          <a:ln/>
        </p:spPr>
        <p:txBody>
          <a:bodyPr wrap="square" lIns="0" tIns="0" rIns="0" bIns="0" rtlCol="0" anchor="ctr"/>
          <a:lstStyle/>
          <a:p>
            <a:pPr marL="0" indent="0">
              <a:buNone/>
            </a:pPr>
            <a:r>
              <a:rPr lang="en-US" sz="1500" dirty="0">
                <a:solidFill>
                  <a:srgbClr val="3B3F3A"/>
                </a:solidFill>
                <a:latin typeface="Calibri" pitchFamily="34" charset="0"/>
                <a:ea typeface="Calibri" pitchFamily="34" charset="-122"/>
                <a:cs typeface="Calibri" pitchFamily="34" charset="-120"/>
              </a:rPr>
              <a:t>Irrigation scheme optimisation &amp; crop-water modelling</a:t>
            </a:r>
            <a:endParaRPr lang="en-US" sz="1500" dirty="0"/>
          </a:p>
        </p:txBody>
      </p:sp>
      <p:sp>
        <p:nvSpPr>
          <p:cNvPr id="8" name="Shape 6"/>
          <p:cNvSpPr/>
          <p:nvPr/>
        </p:nvSpPr>
        <p:spPr>
          <a:xfrm>
            <a:off x="685800" y="2194560"/>
            <a:ext cx="201168" cy="201168"/>
          </a:xfrm>
          <a:prstGeom prst="ellipse">
            <a:avLst/>
          </a:prstGeom>
          <a:solidFill>
            <a:srgbClr val="3B5D3A"/>
          </a:solidFill>
          <a:ln/>
        </p:spPr>
      </p:sp>
      <p:sp>
        <p:nvSpPr>
          <p:cNvPr id="9" name="Text 7"/>
          <p:cNvSpPr/>
          <p:nvPr/>
        </p:nvSpPr>
        <p:spPr>
          <a:xfrm>
            <a:off x="1051560" y="2103120"/>
            <a:ext cx="5029200" cy="457200"/>
          </a:xfrm>
          <a:prstGeom prst="rect">
            <a:avLst/>
          </a:prstGeom>
          <a:noFill/>
          <a:ln/>
        </p:spPr>
        <p:txBody>
          <a:bodyPr wrap="square" lIns="0" tIns="0" rIns="0" bIns="0" rtlCol="0" anchor="ctr"/>
          <a:lstStyle/>
          <a:p>
            <a:pPr marL="0" indent="0">
              <a:buNone/>
            </a:pPr>
            <a:r>
              <a:rPr lang="en-US" sz="1500" dirty="0">
                <a:solidFill>
                  <a:srgbClr val="3B3F3A"/>
                </a:solidFill>
                <a:latin typeface="Calibri" pitchFamily="34" charset="0"/>
                <a:ea typeface="Calibri" pitchFamily="34" charset="-122"/>
                <a:cs typeface="Calibri" pitchFamily="34" charset="-120"/>
              </a:rPr>
              <a:t>Mine-water management and dewatering assessment</a:t>
            </a:r>
            <a:endParaRPr lang="en-US" sz="1500" dirty="0"/>
          </a:p>
        </p:txBody>
      </p:sp>
      <p:sp>
        <p:nvSpPr>
          <p:cNvPr id="10" name="Shape 8"/>
          <p:cNvSpPr/>
          <p:nvPr/>
        </p:nvSpPr>
        <p:spPr>
          <a:xfrm>
            <a:off x="685800" y="2834640"/>
            <a:ext cx="201168" cy="201168"/>
          </a:xfrm>
          <a:prstGeom prst="ellipse">
            <a:avLst/>
          </a:prstGeom>
          <a:solidFill>
            <a:srgbClr val="3B5D3A"/>
          </a:solidFill>
          <a:ln/>
        </p:spPr>
      </p:sp>
      <p:sp>
        <p:nvSpPr>
          <p:cNvPr id="11" name="Text 9"/>
          <p:cNvSpPr/>
          <p:nvPr/>
        </p:nvSpPr>
        <p:spPr>
          <a:xfrm>
            <a:off x="1051560" y="2743200"/>
            <a:ext cx="5029200" cy="457200"/>
          </a:xfrm>
          <a:prstGeom prst="rect">
            <a:avLst/>
          </a:prstGeom>
          <a:noFill/>
          <a:ln/>
        </p:spPr>
        <p:txBody>
          <a:bodyPr wrap="square" lIns="0" tIns="0" rIns="0" bIns="0" rtlCol="0" anchor="ctr"/>
          <a:lstStyle/>
          <a:p>
            <a:pPr marL="0" indent="0">
              <a:buNone/>
            </a:pPr>
            <a:r>
              <a:rPr lang="en-US" sz="1500" dirty="0">
                <a:solidFill>
                  <a:srgbClr val="3B3F3A"/>
                </a:solidFill>
                <a:latin typeface="Calibri" pitchFamily="34" charset="0"/>
                <a:ea typeface="Calibri" pitchFamily="34" charset="-122"/>
                <a:cs typeface="Calibri" pitchFamily="34" charset="-120"/>
              </a:rPr>
              <a:t>Environmental Impact Assessments (EIAs)</a:t>
            </a:r>
            <a:endParaRPr lang="en-US" sz="1500" dirty="0"/>
          </a:p>
        </p:txBody>
      </p:sp>
      <p:sp>
        <p:nvSpPr>
          <p:cNvPr id="12" name="Shape 10"/>
          <p:cNvSpPr/>
          <p:nvPr/>
        </p:nvSpPr>
        <p:spPr>
          <a:xfrm>
            <a:off x="685800" y="3474720"/>
            <a:ext cx="201168" cy="201168"/>
          </a:xfrm>
          <a:prstGeom prst="ellipse">
            <a:avLst/>
          </a:prstGeom>
          <a:solidFill>
            <a:srgbClr val="3B5D3A"/>
          </a:solidFill>
          <a:ln/>
        </p:spPr>
      </p:sp>
      <p:sp>
        <p:nvSpPr>
          <p:cNvPr id="13" name="Text 11"/>
          <p:cNvSpPr/>
          <p:nvPr/>
        </p:nvSpPr>
        <p:spPr>
          <a:xfrm>
            <a:off x="1051560" y="3383280"/>
            <a:ext cx="5029200" cy="457200"/>
          </a:xfrm>
          <a:prstGeom prst="rect">
            <a:avLst/>
          </a:prstGeom>
          <a:noFill/>
          <a:ln/>
        </p:spPr>
        <p:txBody>
          <a:bodyPr wrap="square" lIns="0" tIns="0" rIns="0" bIns="0" rtlCol="0" anchor="ctr"/>
          <a:lstStyle/>
          <a:p>
            <a:pPr marL="0" indent="0">
              <a:buNone/>
            </a:pPr>
            <a:r>
              <a:rPr lang="en-US" sz="1500" dirty="0">
                <a:solidFill>
                  <a:srgbClr val="3B3F3A"/>
                </a:solidFill>
                <a:latin typeface="Calibri" pitchFamily="34" charset="0"/>
                <a:ea typeface="Calibri" pitchFamily="34" charset="-122"/>
                <a:cs typeface="Calibri" pitchFamily="34" charset="-120"/>
              </a:rPr>
              <a:t>Eutrophication mitigation &amp; nutrient budgets</a:t>
            </a:r>
            <a:endParaRPr lang="en-US" sz="1500" dirty="0"/>
          </a:p>
        </p:txBody>
      </p:sp>
      <p:sp>
        <p:nvSpPr>
          <p:cNvPr id="14" name="Shape 12"/>
          <p:cNvSpPr/>
          <p:nvPr/>
        </p:nvSpPr>
        <p:spPr>
          <a:xfrm>
            <a:off x="6355080" y="1554480"/>
            <a:ext cx="201168" cy="201168"/>
          </a:xfrm>
          <a:prstGeom prst="ellipse">
            <a:avLst/>
          </a:prstGeom>
          <a:solidFill>
            <a:srgbClr val="3B5D3A"/>
          </a:solidFill>
          <a:ln/>
        </p:spPr>
      </p:sp>
      <p:sp>
        <p:nvSpPr>
          <p:cNvPr id="15" name="Text 13"/>
          <p:cNvSpPr/>
          <p:nvPr/>
        </p:nvSpPr>
        <p:spPr>
          <a:xfrm>
            <a:off x="6720840" y="1463040"/>
            <a:ext cx="5029200" cy="457200"/>
          </a:xfrm>
          <a:prstGeom prst="rect">
            <a:avLst/>
          </a:prstGeom>
          <a:noFill/>
          <a:ln/>
        </p:spPr>
        <p:txBody>
          <a:bodyPr wrap="square" lIns="0" tIns="0" rIns="0" bIns="0" rtlCol="0" anchor="ctr"/>
          <a:lstStyle/>
          <a:p>
            <a:pPr marL="0" indent="0">
              <a:buNone/>
            </a:pPr>
            <a:r>
              <a:rPr lang="en-US" sz="1500" dirty="0">
                <a:solidFill>
                  <a:srgbClr val="3B3F3A"/>
                </a:solidFill>
                <a:latin typeface="Calibri" pitchFamily="34" charset="0"/>
                <a:ea typeface="Calibri" pitchFamily="34" charset="-122"/>
                <a:cs typeface="Calibri" pitchFamily="34" charset="-120"/>
              </a:rPr>
              <a:t>Green infrastructure / nature-based solutions</a:t>
            </a:r>
            <a:endParaRPr lang="en-US" sz="1500" dirty="0"/>
          </a:p>
        </p:txBody>
      </p:sp>
      <p:sp>
        <p:nvSpPr>
          <p:cNvPr id="16" name="Shape 14"/>
          <p:cNvSpPr/>
          <p:nvPr/>
        </p:nvSpPr>
        <p:spPr>
          <a:xfrm>
            <a:off x="6355080" y="2194560"/>
            <a:ext cx="201168" cy="201168"/>
          </a:xfrm>
          <a:prstGeom prst="ellipse">
            <a:avLst/>
          </a:prstGeom>
          <a:solidFill>
            <a:srgbClr val="3B5D3A"/>
          </a:solidFill>
          <a:ln/>
        </p:spPr>
      </p:sp>
      <p:sp>
        <p:nvSpPr>
          <p:cNvPr id="17" name="Text 15"/>
          <p:cNvSpPr/>
          <p:nvPr/>
        </p:nvSpPr>
        <p:spPr>
          <a:xfrm>
            <a:off x="6720840" y="2103120"/>
            <a:ext cx="5029200" cy="457200"/>
          </a:xfrm>
          <a:prstGeom prst="rect">
            <a:avLst/>
          </a:prstGeom>
          <a:noFill/>
          <a:ln/>
        </p:spPr>
        <p:txBody>
          <a:bodyPr wrap="square" lIns="0" tIns="0" rIns="0" bIns="0" rtlCol="0" anchor="ctr"/>
          <a:lstStyle/>
          <a:p>
            <a:pPr marL="0" indent="0">
              <a:buNone/>
            </a:pPr>
            <a:r>
              <a:rPr lang="en-US" sz="1500" dirty="0">
                <a:solidFill>
                  <a:srgbClr val="3B3F3A"/>
                </a:solidFill>
                <a:latin typeface="Calibri" pitchFamily="34" charset="0"/>
                <a:ea typeface="Calibri" pitchFamily="34" charset="-122"/>
                <a:cs typeface="Calibri" pitchFamily="34" charset="-120"/>
              </a:rPr>
              <a:t>Land-use change impact studies</a:t>
            </a:r>
            <a:endParaRPr lang="en-US" sz="1500" dirty="0"/>
          </a:p>
        </p:txBody>
      </p:sp>
      <p:sp>
        <p:nvSpPr>
          <p:cNvPr id="18" name="Shape 16"/>
          <p:cNvSpPr/>
          <p:nvPr/>
        </p:nvSpPr>
        <p:spPr>
          <a:xfrm>
            <a:off x="6355080" y="2834640"/>
            <a:ext cx="201168" cy="201168"/>
          </a:xfrm>
          <a:prstGeom prst="ellipse">
            <a:avLst/>
          </a:prstGeom>
          <a:solidFill>
            <a:srgbClr val="3B5D3A"/>
          </a:solidFill>
          <a:ln/>
        </p:spPr>
      </p:sp>
      <p:sp>
        <p:nvSpPr>
          <p:cNvPr id="19" name="Text 17"/>
          <p:cNvSpPr/>
          <p:nvPr/>
        </p:nvSpPr>
        <p:spPr>
          <a:xfrm>
            <a:off x="6720840" y="2743200"/>
            <a:ext cx="5029200" cy="457200"/>
          </a:xfrm>
          <a:prstGeom prst="rect">
            <a:avLst/>
          </a:prstGeom>
          <a:noFill/>
          <a:ln/>
        </p:spPr>
        <p:txBody>
          <a:bodyPr wrap="square" lIns="0" tIns="0" rIns="0" bIns="0" rtlCol="0" anchor="ctr"/>
          <a:lstStyle/>
          <a:p>
            <a:pPr marL="0" indent="0">
              <a:buNone/>
            </a:pPr>
            <a:r>
              <a:rPr lang="en-US" sz="1500" dirty="0">
                <a:solidFill>
                  <a:srgbClr val="3B3F3A"/>
                </a:solidFill>
                <a:latin typeface="Calibri" pitchFamily="34" charset="0"/>
                <a:ea typeface="Calibri" pitchFamily="34" charset="-122"/>
                <a:cs typeface="Calibri" pitchFamily="34" charset="-120"/>
              </a:rPr>
              <a:t>Water-protection-zone vulnerability mapping</a:t>
            </a:r>
            <a:endParaRPr lang="en-US" sz="1500" dirty="0"/>
          </a:p>
        </p:txBody>
      </p:sp>
      <p:sp>
        <p:nvSpPr>
          <p:cNvPr id="20" name="Shape 18"/>
          <p:cNvSpPr/>
          <p:nvPr/>
        </p:nvSpPr>
        <p:spPr>
          <a:xfrm>
            <a:off x="6355080" y="3474720"/>
            <a:ext cx="201168" cy="201168"/>
          </a:xfrm>
          <a:prstGeom prst="ellipse">
            <a:avLst/>
          </a:prstGeom>
          <a:solidFill>
            <a:srgbClr val="3B5D3A"/>
          </a:solidFill>
          <a:ln/>
        </p:spPr>
      </p:sp>
      <p:sp>
        <p:nvSpPr>
          <p:cNvPr id="21" name="Text 19"/>
          <p:cNvSpPr/>
          <p:nvPr/>
        </p:nvSpPr>
        <p:spPr>
          <a:xfrm>
            <a:off x="6720840" y="3383280"/>
            <a:ext cx="5029200" cy="457200"/>
          </a:xfrm>
          <a:prstGeom prst="rect">
            <a:avLst/>
          </a:prstGeom>
          <a:noFill/>
          <a:ln/>
        </p:spPr>
        <p:txBody>
          <a:bodyPr wrap="square" lIns="0" tIns="0" rIns="0" bIns="0" rtlCol="0" anchor="ctr"/>
          <a:lstStyle/>
          <a:p>
            <a:pPr marL="0" indent="0">
              <a:buNone/>
            </a:pPr>
            <a:r>
              <a:rPr lang="en-US" sz="1500" dirty="0">
                <a:solidFill>
                  <a:srgbClr val="3B3F3A"/>
                </a:solidFill>
                <a:latin typeface="Calibri" pitchFamily="34" charset="0"/>
                <a:ea typeface="Calibri" pitchFamily="34" charset="-122"/>
                <a:cs typeface="Calibri" pitchFamily="34" charset="-120"/>
              </a:rPr>
              <a:t>Integrated Water Resources Management (IWRM)</a:t>
            </a:r>
            <a:endParaRPr lang="en-US" sz="1500" dirty="0"/>
          </a:p>
        </p:txBody>
      </p:sp>
      <p:sp>
        <p:nvSpPr>
          <p:cNvPr id="22" name="Shape 20"/>
          <p:cNvSpPr/>
          <p:nvPr/>
        </p:nvSpPr>
        <p:spPr>
          <a:xfrm>
            <a:off x="685800" y="4297680"/>
            <a:ext cx="10789920" cy="1737360"/>
          </a:xfrm>
          <a:prstGeom prst="roundRect">
            <a:avLst>
              <a:gd name="adj" fmla="val 5263"/>
            </a:avLst>
          </a:prstGeom>
          <a:solidFill>
            <a:srgbClr val="2C4A2B"/>
          </a:solidFill>
          <a:ln/>
        </p:spPr>
      </p:sp>
      <p:sp>
        <p:nvSpPr>
          <p:cNvPr id="23" name="Text 21"/>
          <p:cNvSpPr/>
          <p:nvPr/>
        </p:nvSpPr>
        <p:spPr>
          <a:xfrm>
            <a:off x="1051560" y="4526280"/>
            <a:ext cx="10058400" cy="365760"/>
          </a:xfrm>
          <a:prstGeom prst="rect">
            <a:avLst/>
          </a:prstGeom>
          <a:noFill/>
          <a:ln/>
        </p:spPr>
        <p:txBody>
          <a:bodyPr wrap="square" lIns="0" tIns="0" rIns="0" bIns="0" rtlCol="0" anchor="ctr"/>
          <a:lstStyle/>
          <a:p>
            <a:pPr marL="0" indent="0">
              <a:buNone/>
            </a:pPr>
            <a:r>
              <a:rPr lang="en-US" sz="1600" dirty="0">
                <a:solidFill>
                  <a:srgbClr val="FFFFFF"/>
                </a:solidFill>
                <a:latin typeface="Georgia" pitchFamily="34" charset="0"/>
                <a:ea typeface="Georgia" pitchFamily="34" charset="-122"/>
                <a:cs typeface="Georgia" pitchFamily="34" charset="-120"/>
              </a:rPr>
              <a:t>Why researchers choose MIKE SHE</a:t>
            </a:r>
            <a:endParaRPr lang="en-US" sz="1600" dirty="0"/>
          </a:p>
        </p:txBody>
      </p:sp>
      <p:sp>
        <p:nvSpPr>
          <p:cNvPr id="24" name="Text 22"/>
          <p:cNvSpPr/>
          <p:nvPr/>
        </p:nvSpPr>
        <p:spPr>
          <a:xfrm>
            <a:off x="1051560" y="4983480"/>
            <a:ext cx="10058400" cy="822960"/>
          </a:xfrm>
          <a:prstGeom prst="rect">
            <a:avLst/>
          </a:prstGeom>
          <a:noFill/>
          <a:ln/>
        </p:spPr>
        <p:txBody>
          <a:bodyPr wrap="square" lIns="0" tIns="0" rIns="0" bIns="0" rtlCol="0" anchor="ctr"/>
          <a:lstStyle/>
          <a:p>
            <a:pPr marL="0" indent="0">
              <a:buNone/>
            </a:pPr>
            <a:r>
              <a:rPr lang="en-US" sz="1400" dirty="0">
                <a:solidFill>
                  <a:srgbClr val="C9C4B4"/>
                </a:solidFill>
                <a:latin typeface="Calibri" pitchFamily="34" charset="0"/>
                <a:ea typeface="Calibri" pitchFamily="34" charset="-122"/>
                <a:cs typeface="Calibri" pitchFamily="34" charset="-120"/>
              </a:rPr>
              <a:t>Ability to represent complex surface–subsurface feedbacks at catchment scale • Flexible process complexity • Seamless coupling with MIKE 1D / MIKE+ • Rich spatial and temporal outputs • Strong water-balance diagnostics • Decades of peer-reviewed application worldwide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15748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9349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1073</TotalTime>
  <Words>3591</Words>
  <Application>Microsoft Macintosh PowerPoint</Application>
  <PresentationFormat>Widescreen</PresentationFormat>
  <Paragraphs>237</Paragraphs>
  <Slides>24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2</cp:revision>
  <dcterms:created xsi:type="dcterms:W3CDTF">2026-09-08T12:12:51Z</dcterms:created>
  <dcterms:modified xsi:type="dcterms:W3CDTF">2026-09-09T06:20:05Z</dcterms:modified>
</cp:coreProperties>
</file>